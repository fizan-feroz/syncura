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1" r:id="rId4"/>
    <p:sldId id="260" r:id="rId5"/>
    <p:sldId id="259" r:id="rId6"/>
    <p:sldId id="261" r:id="rId7"/>
    <p:sldId id="273" r:id="rId8"/>
    <p:sldId id="27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HANA HAIDER" userId="feea5b789fbace17" providerId="LiveId" clId="{62240055-6E5F-4B16-9FAE-C0DEBC3C6ADC}"/>
    <pc:docChg chg="addSld delSld modSld sldOrd">
      <pc:chgData name="RAIHANA HAIDER" userId="feea5b789fbace17" providerId="LiveId" clId="{62240055-6E5F-4B16-9FAE-C0DEBC3C6ADC}" dt="2025-03-20T08:55:58.891" v="64" actId="20577"/>
      <pc:docMkLst>
        <pc:docMk/>
      </pc:docMkLst>
      <pc:sldChg chg="ord">
        <pc:chgData name="RAIHANA HAIDER" userId="feea5b789fbace17" providerId="LiveId" clId="{62240055-6E5F-4B16-9FAE-C0DEBC3C6ADC}" dt="2025-03-20T08:55:23.382" v="39"/>
        <pc:sldMkLst>
          <pc:docMk/>
          <pc:sldMk cId="0" sldId="259"/>
        </pc:sldMkLst>
      </pc:sldChg>
      <pc:sldChg chg="modSp mod">
        <pc:chgData name="RAIHANA HAIDER" userId="feea5b789fbace17" providerId="LiveId" clId="{62240055-6E5F-4B16-9FAE-C0DEBC3C6ADC}" dt="2025-03-20T08:54:05.328" v="22" actId="20577"/>
        <pc:sldMkLst>
          <pc:docMk/>
          <pc:sldMk cId="0" sldId="262"/>
        </pc:sldMkLst>
        <pc:spChg chg="mod">
          <ac:chgData name="RAIHANA HAIDER" userId="feea5b789fbace17" providerId="LiveId" clId="{62240055-6E5F-4B16-9FAE-C0DEBC3C6ADC}" dt="2025-03-20T08:54:05.328" v="22" actId="20577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RAIHANA HAIDER" userId="feea5b789fbace17" providerId="LiveId" clId="{62240055-6E5F-4B16-9FAE-C0DEBC3C6ADC}" dt="2025-03-20T08:53:53.129" v="12" actId="20577"/>
        <pc:sldMkLst>
          <pc:docMk/>
          <pc:sldMk cId="0" sldId="263"/>
        </pc:sldMkLst>
        <pc:spChg chg="mod">
          <ac:chgData name="RAIHANA HAIDER" userId="feea5b789fbace17" providerId="LiveId" clId="{62240055-6E5F-4B16-9FAE-C0DEBC3C6ADC}" dt="2025-03-20T08:53:53.129" v="1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add mod">
        <pc:chgData name="RAIHANA HAIDER" userId="feea5b789fbace17" providerId="LiveId" clId="{62240055-6E5F-4B16-9FAE-C0DEBC3C6ADC}" dt="2025-03-20T08:54:58.492" v="37" actId="20577"/>
        <pc:sldMkLst>
          <pc:docMk/>
          <pc:sldMk cId="616556129" sldId="272"/>
        </pc:sldMkLst>
        <pc:spChg chg="mod">
          <ac:chgData name="RAIHANA HAIDER" userId="feea5b789fbace17" providerId="LiveId" clId="{62240055-6E5F-4B16-9FAE-C0DEBC3C6ADC}" dt="2025-03-20T08:54:58.492" v="37" actId="20577"/>
          <ac:spMkLst>
            <pc:docMk/>
            <pc:sldMk cId="616556129" sldId="272"/>
            <ac:spMk id="2" creationId="{9B30F311-A52E-D32E-79CF-E68F204EEFA0}"/>
          </ac:spMkLst>
        </pc:spChg>
      </pc:sldChg>
      <pc:sldChg chg="new del">
        <pc:chgData name="RAIHANA HAIDER" userId="feea5b789fbace17" providerId="LiveId" clId="{62240055-6E5F-4B16-9FAE-C0DEBC3C6ADC}" dt="2025-03-20T08:54:45.215" v="24" actId="2696"/>
        <pc:sldMkLst>
          <pc:docMk/>
          <pc:sldMk cId="4230627005" sldId="272"/>
        </pc:sldMkLst>
      </pc:sldChg>
      <pc:sldChg chg="modSp add mod">
        <pc:chgData name="RAIHANA HAIDER" userId="feea5b789fbace17" providerId="LiveId" clId="{62240055-6E5F-4B16-9FAE-C0DEBC3C6ADC}" dt="2025-03-20T08:55:58.891" v="64" actId="20577"/>
        <pc:sldMkLst>
          <pc:docMk/>
          <pc:sldMk cId="31462316" sldId="273"/>
        </pc:sldMkLst>
        <pc:spChg chg="mod">
          <ac:chgData name="RAIHANA HAIDER" userId="feea5b789fbace17" providerId="LiveId" clId="{62240055-6E5F-4B16-9FAE-C0DEBC3C6ADC}" dt="2025-03-20T08:55:58.891" v="64" actId="20577"/>
          <ac:spMkLst>
            <pc:docMk/>
            <pc:sldMk cId="31462316" sldId="273"/>
            <ac:spMk id="2" creationId="{144A718F-CDC2-156E-D98B-B0A1FEA016DF}"/>
          </ac:spMkLst>
        </pc:spChg>
      </pc:sldChg>
    </pc:docChg>
  </pc:docChgLst>
  <pc:docChgLst>
    <pc:chgData name="RAIHANA HAIDER" userId="feea5b789fbace17" providerId="LiveId" clId="{7E4D1962-E2EB-4390-8447-0BDF9FC82F59}"/>
    <pc:docChg chg="custSel delSld modSld">
      <pc:chgData name="RAIHANA HAIDER" userId="feea5b789fbace17" providerId="LiveId" clId="{7E4D1962-E2EB-4390-8447-0BDF9FC82F59}" dt="2024-10-01T08:45:39.851" v="103" actId="1076"/>
      <pc:docMkLst>
        <pc:docMk/>
      </pc:docMkLst>
      <pc:sldChg chg="modSp mod">
        <pc:chgData name="RAIHANA HAIDER" userId="feea5b789fbace17" providerId="LiveId" clId="{7E4D1962-E2EB-4390-8447-0BDF9FC82F59}" dt="2024-10-01T08:43:14.478" v="76" actId="20577"/>
        <pc:sldMkLst>
          <pc:docMk/>
          <pc:sldMk cId="0" sldId="257"/>
        </pc:sldMkLst>
      </pc:sldChg>
      <pc:sldChg chg="modSp mod">
        <pc:chgData name="RAIHANA HAIDER" userId="feea5b789fbace17" providerId="LiveId" clId="{7E4D1962-E2EB-4390-8447-0BDF9FC82F59}" dt="2024-10-01T08:43:43.511" v="82" actId="20577"/>
        <pc:sldMkLst>
          <pc:docMk/>
          <pc:sldMk cId="0" sldId="259"/>
        </pc:sldMkLst>
      </pc:sldChg>
      <pc:sldChg chg="modSp mod">
        <pc:chgData name="RAIHANA HAIDER" userId="feea5b789fbace17" providerId="LiveId" clId="{7E4D1962-E2EB-4390-8447-0BDF9FC82F59}" dt="2024-10-01T08:44:41.159" v="92" actId="20577"/>
        <pc:sldMkLst>
          <pc:docMk/>
          <pc:sldMk cId="0" sldId="260"/>
        </pc:sldMkLst>
      </pc:sldChg>
      <pc:sldChg chg="modSp mod">
        <pc:chgData name="RAIHANA HAIDER" userId="feea5b789fbace17" providerId="LiveId" clId="{7E4D1962-E2EB-4390-8447-0BDF9FC82F59}" dt="2024-10-01T08:45:03.618" v="98" actId="20577"/>
        <pc:sldMkLst>
          <pc:docMk/>
          <pc:sldMk cId="0" sldId="261"/>
        </pc:sldMkLst>
      </pc:sldChg>
      <pc:sldChg chg="modSp mod">
        <pc:chgData name="RAIHANA HAIDER" userId="feea5b789fbace17" providerId="LiveId" clId="{7E4D1962-E2EB-4390-8447-0BDF9FC82F59}" dt="2024-10-01T08:45:24.522" v="102" actId="20577"/>
        <pc:sldMkLst>
          <pc:docMk/>
          <pc:sldMk cId="0" sldId="262"/>
        </pc:sldMkLst>
      </pc:sldChg>
      <pc:sldChg chg="delSp modSp mod">
        <pc:chgData name="RAIHANA HAIDER" userId="feea5b789fbace17" providerId="LiveId" clId="{7E4D1962-E2EB-4390-8447-0BDF9FC82F59}" dt="2024-10-01T08:45:39.851" v="103" actId="1076"/>
        <pc:sldMkLst>
          <pc:docMk/>
          <pc:sldMk cId="0" sldId="263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2704898877" sldId="265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2964426329" sldId="266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124744618" sldId="267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3003659065" sldId="268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400948982" sldId="269"/>
        </pc:sldMkLst>
      </pc:sldChg>
      <pc:sldChg chg="del">
        <pc:chgData name="RAIHANA HAIDER" userId="feea5b789fbace17" providerId="LiveId" clId="{7E4D1962-E2EB-4390-8447-0BDF9FC82F59}" dt="2024-10-01T08:40:31.091" v="0" actId="47"/>
        <pc:sldMkLst>
          <pc:docMk/>
          <pc:sldMk cId="1254103891" sldId="270"/>
        </pc:sldMkLst>
      </pc:sldChg>
      <pc:sldChg chg="modSp mod">
        <pc:chgData name="RAIHANA HAIDER" userId="feea5b789fbace17" providerId="LiveId" clId="{7E4D1962-E2EB-4390-8447-0BDF9FC82F59}" dt="2024-10-01T08:44:05.129" v="88" actId="20577"/>
        <pc:sldMkLst>
          <pc:docMk/>
          <pc:sldMk cId="1107851215" sldId="271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2C176-0849-431B-8988-DF26364DC9BA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1396B-1C0F-4798-BA0F-0C5EE0967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16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368552" cy="14112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434" y="2585973"/>
            <a:ext cx="5238750" cy="1092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635" y="2467101"/>
            <a:ext cx="6219825" cy="317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D539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6635" y="6389149"/>
            <a:ext cx="97218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25" dirty="0"/>
              <a:t>2023-24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2716" y="6389149"/>
            <a:ext cx="253491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2057400"/>
            <a:ext cx="9982200" cy="5524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6000" dirty="0">
                <a:latin typeface="Times New Roman"/>
                <a:cs typeface="Times New Roman"/>
              </a:rPr>
              <a:t>SynCura: Predictive ICU Monitoring System Using Attention-Based LSTM</a:t>
            </a:r>
            <a:r>
              <a:rPr sz="6000" spc="-95" dirty="0">
                <a:latin typeface="Times New Roman"/>
                <a:cs typeface="Times New Roman"/>
              </a:rPr>
              <a:t/>
            </a:r>
            <a:r>
              <a:rPr sz="6000" spc="-10" dirty="0">
                <a:latin typeface="Times New Roman"/>
                <a:cs typeface="Times New Roman"/>
              </a:rPr>
              <a:t/>
            </a:r>
            <a:endParaRPr lang="en-IN" sz="6000" spc="-1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r>
              <a:rPr sz="1800">
                <a:latin typeface="Times New Roman"/>
              </a:rPr>
              <a:t>Real-time in-hospital mortality risk with SHAP + temporal-attention explainability</a:t>
            </a:r>
            <a:endParaRPr lang="en-IN" spc="-2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spc="-2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spc="-2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spc="-20" dirty="0">
              <a:latin typeface="Times New Roman"/>
              <a:cs typeface="Times New Roman"/>
            </a:endParaRPr>
          </a:p>
          <a:p>
            <a:pPr marR="6350" algn="l">
              <a:lnSpc>
                <a:spcPct val="100000"/>
              </a:lnSpc>
              <a:spcBef>
                <a:spcPts val="1210"/>
              </a:spcBef>
            </a:pPr>
            <a:r>
              <a:rPr lang="en-US" sz="1400" dirty="0">
                <a:latin typeface="Times New Roman"/>
                <a:cs typeface="Times New Roman"/>
              </a:rPr>
              <a:t>UNDER THE GUIDANCE OF                    TEAM MEMBERS</a:t>
            </a:r>
            <a:r>
              <a:rPr lang="en-US" sz="1400" spc="-105" dirty="0">
                <a:latin typeface="Times New Roman"/>
                <a:cs typeface="Times New Roman"/>
              </a:rPr>
              <a:t/>
            </a:r>
            <a:r>
              <a:rPr lang="en-US" sz="1400" dirty="0">
                <a:latin typeface="Times New Roman"/>
                <a:cs typeface="Times New Roman"/>
              </a:rPr>
              <a:t/>
            </a:r>
            <a:r>
              <a:rPr lang="en-US" sz="1400" spc="-75" dirty="0">
                <a:latin typeface="Times New Roman"/>
                <a:cs typeface="Times New Roman"/>
              </a:rPr>
              <a:t/>
            </a:r>
            <a:r>
              <a:rPr lang="en-US" sz="1400" dirty="0">
                <a:latin typeface="Times New Roman"/>
                <a:cs typeface="Times New Roman"/>
              </a:rPr>
              <a:t/>
            </a:r>
            <a:r>
              <a:rPr lang="en-US" sz="1400" spc="-60" dirty="0">
                <a:latin typeface="Times New Roman"/>
                <a:cs typeface="Times New Roman"/>
              </a:rPr>
              <a:t/>
            </a:r>
            <a:r>
              <a:rPr lang="en-US" sz="1400" spc="-25" dirty="0">
                <a:latin typeface="Times New Roman"/>
                <a:cs typeface="Times New Roman"/>
              </a:rPr>
              <a:t/>
            </a:r>
            <a:endParaRPr lang="en-US" sz="1800" dirty="0">
              <a:latin typeface="Times New Roman"/>
              <a:cs typeface="Times New Roman"/>
            </a:endParaRPr>
          </a:p>
          <a:p>
            <a:pPr marR="5080" algn="l">
              <a:lnSpc>
                <a:spcPct val="100000"/>
              </a:lnSpc>
              <a:spcBef>
                <a:spcPts val="1105"/>
              </a:spcBef>
            </a:pPr>
            <a:r>
              <a:rPr lang="en-US" sz="1400" spc="-10" dirty="0">
                <a:latin typeface="Times New Roman"/>
                <a:cs typeface="Times New Roman"/>
              </a:rPr>
              <a:t>Guide Name (TBD)                    Abdul Ahad Ikkeri - 4PA24CS002, Fathima Reeha - 4PA24CS026, Fizan Feroz - 4PA24CS032</a:t>
            </a:r>
            <a:r>
              <a:rPr lang="en-US" sz="1400" spc="-75" dirty="0">
                <a:latin typeface="Times New Roman"/>
                <a:cs typeface="Times New Roman"/>
              </a:rPr>
              <a:t/>
            </a:r>
            <a:r>
              <a:rPr lang="en-US" sz="1400" spc="-20" dirty="0">
                <a:latin typeface="Times New Roman"/>
                <a:cs typeface="Times New Roman"/>
              </a:rPr>
              <a:t/>
            </a:r>
          </a:p>
          <a:p>
            <a:pPr marR="5080" algn="l">
              <a:lnSpc>
                <a:spcPct val="100000"/>
              </a:lnSpc>
              <a:spcBef>
                <a:spcPts val="1105"/>
              </a:spcBef>
            </a:pPr>
            <a:r>
              <a:rPr lang="en-US" spc="-20" dirty="0" sz="1400">
                <a:latin typeface="Times New Roman"/>
                <a:cs typeface="Times New Roman"/>
              </a:rPr>
              <a:t>Designation (TBD)</a:t>
            </a:r>
            <a:endParaRPr lang="en-US" sz="1800" dirty="0">
              <a:latin typeface="Times New Roman"/>
              <a:cs typeface="Times New Roman"/>
            </a:endParaRPr>
          </a:p>
          <a:p>
            <a:pPr marL="12700" algn="ctr">
              <a:spcBef>
                <a:spcPts val="100"/>
              </a:spcBef>
            </a:pPr>
            <a:endParaRPr lang="en-IN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60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000" spc="-10" dirty="0">
                <a:latin typeface="Times New Roman"/>
                <a:cs typeface="Times New Roman"/>
              </a:rPr>
              <a:t>             </a:t>
            </a:r>
            <a:endParaRPr sz="6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4" y="83819"/>
            <a:ext cx="1368552" cy="14112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2843" y="83819"/>
            <a:ext cx="1325879" cy="14112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99385" y="325881"/>
            <a:ext cx="7171690" cy="760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136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P.A.</a:t>
            </a:r>
            <a:r>
              <a:rPr sz="28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COLLEGE</a:t>
            </a:r>
            <a:r>
              <a:rPr sz="2800" b="1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8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0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COMPUTER</a:t>
            </a:r>
            <a:r>
              <a:rPr sz="2000" b="1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SCIENCE</a:t>
            </a:r>
            <a:r>
              <a:rPr sz="2000" b="1"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&amp;</a:t>
            </a:r>
            <a:r>
              <a:rPr sz="2000" b="1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ENGINEERING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8902700" cy="47698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lang="en-IN" sz="2000" dirty="0">
              <a:latin typeface="Times New Roman"/>
              <a:cs typeface="Times New Roman"/>
            </a:endParaRPr>
          </a:p>
          <a:p>
            <a:pPr marL="1743075" algn="ctr">
              <a:lnSpc>
                <a:spcPct val="100000"/>
              </a:lnSpc>
              <a:spcBef>
                <a:spcPts val="30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ABSTRACT</a:t>
            </a:r>
            <a:endParaRPr sz="32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ICU deterioration is a leading cause of preventable in-hospital mortality; static scores like NEWS2 miss temporal trends.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SynCura uses an attention-based LSTM on 12 features x 90-minute windows with FastAPI backend and React dashboard.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Trained and evaluated on PhysioNet 2012 Challenge data with in-hospital mortality labels (4,000 stays).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Deployed 3-model ensemble (e12+e13+c53): validation AUC 0.840, fresh unseen holdout AUC 0.834.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Provides real-time risk scoring with SHAP and attention explainability; research prototype, not a medical device.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8902700" cy="5316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4965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INTRODUCTION</a:t>
            </a:r>
            <a:endParaRPr sz="32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ICU mortality ranges 10-29%; early detection of deterioration significantly improves outcomes.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Current practice relies on NEWS2, SOFA and APACHE-II with static thresholds and manual calculation.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These scores fail to capture temporal trends and have limited sensitivity for early warning.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Objective 1-2: build attention-LSTM mortality-risk model with full-stack FastAPI and React system.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Objective 3-5: add SHAP + attention explainability, compare against NEWS2, enable scenario simulation.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062716" y="6389149"/>
            <a:ext cx="25349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ts val="1410"/>
              </a:lnSpc>
            </a:pPr>
            <a:r>
              <a:rPr lang="en-IN" spc="-50" dirty="0"/>
              <a:t>3</a:t>
            </a:r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10785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4" y="325881"/>
            <a:ext cx="9827565" cy="511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 marL="3495040" algn="l">
              <a:lnSpc>
                <a:spcPct val="100000"/>
              </a:lnSpc>
              <a:spcBef>
                <a:spcPts val="5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495040" algn="l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LITERATURE SURVEY</a:t>
            </a:r>
            <a:endParaRPr sz="32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Alshwaheen et al., IEEE Access 2021: LSTM-RNN + GA on MIMIC-III, AUROC 0.933.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Choi et al., IEEE JBHI 2020 (DEWS): BiLSTM + attention, AUROC 0.880, beats NEWS2.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Li et al., IEEE Access 2025 (ARLF): attention residual LSTM-FCN, +0.073 AUC from attention.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Zheng et al., JMIR 2025 (Base, TBAL): time-aware BiLSTM-attention, dynamic AUROC 0.936. Adaptation target.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PULSE-ICU, arXiv 2025: Longformer foundation model, mortality AUROC 0.887.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GARLIC, arXiv 2026: graph attention on PhysioNet 2012/2019 + MIMIC-III, SOTA AUROC.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Yan et al., PeerJ 2026: Informer/LSTM/GRU/Transformer stacking, AUROC 0.95 internal.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TA-RNN-Hybrid, arXiv 2026: SNOMED embeddings + dual attention, improved AUC and F2.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Scheid et al., Nature Commun. 2025: wearable RNN, AUROC 0.89 with 17h advance warning.</a:t>
            </a:r>
          </a:p>
          <a:p>
            <a:pPr algn="just">
              <a:lnSpc>
                <a:spcPct val="150000"/>
              </a:lnSpc>
            </a:pPr>
            <a:r>
              <a:rPr sz="1300">
                <a:latin typeface="Times New Roman"/>
              </a:rPr>
              <a:t>Wang et al., npj Digit. Med. 2026 (EAEWS): expert-augmented rules, AUROC over 0.80 with transparency.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176507" y="6389149"/>
            <a:ext cx="1016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-50" dirty="0">
                <a:latin typeface="Times New Roman"/>
                <a:cs typeface="Times New Roman"/>
              </a:rPr>
              <a:t>4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9949484" cy="53598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49650" algn="l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PROBLEM STATEMENT</a:t>
            </a:r>
            <a:endParaRPr sz="32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ICU patients need continuous risk assessment, but bedside scores use single-timepoint thresholds.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NEWS2 / SOFA / APACHE-II require manual calculation and ignore vital-sign trajectories.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Result: late detection, alarm fatigue and limited sensitivity for early deterioration.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Need: automated model that learns temporal patterns from streaming vitals and labs.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Need: interpretable output so clinicians see which vitals and timepoints drove the risk.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062716" y="6389149"/>
            <a:ext cx="25349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ts val="1410"/>
              </a:lnSpc>
            </a:pPr>
            <a:r>
              <a:rPr lang="en-IN" spc="-50" dirty="0"/>
              <a:t>2</a:t>
            </a:r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635" y="325881"/>
            <a:ext cx="8902700" cy="58522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49650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PROPOSED METHODOLOGY</a:t>
            </a:r>
            <a:endParaRPr sz="32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sz="1600">
                <a:latin typeface="Times New Roman"/>
              </a:rPr>
              <a:t>Dataset: PhysioNet 2012 Challenge, 4,000 ICU stays, 37 variables over 48 hours, mortality labels.</a:t>
            </a:r>
          </a:p>
          <a:p>
            <a:pPr algn="just">
              <a:lnSpc>
                <a:spcPct val="150000"/>
              </a:lnSpc>
            </a:pPr>
            <a:r>
              <a:rPr sz="1600">
                <a:latin typeface="Times New Roman"/>
              </a:rPr>
              <a:t>Features (12): HR, RespRate, Temp, SysBP, DiasBP, SpO2 (via SaO2) + GCS, BUN, Creatinine, WBC, Platelets, Glucose.</a:t>
            </a:r>
          </a:p>
          <a:p>
            <a:pPr algn="just">
              <a:lnSpc>
                <a:spcPct val="150000"/>
              </a:lnSpc>
            </a:pPr>
            <a:r>
              <a:rPr sz="1600">
                <a:latin typeface="Times New Roman"/>
              </a:rPr>
              <a:t>Preprocessing: 90-min sliding windows, causal per-window interpolation, train-only z-score, patient-level 80/20 split.</a:t>
            </a:r>
          </a:p>
          <a:p>
            <a:pPr algn="just">
              <a:lnSpc>
                <a:spcPct val="150000"/>
              </a:lnSpc>
            </a:pPr>
            <a:r>
              <a:rPr sz="1600">
                <a:latin typeface="Times New Roman"/>
              </a:rPr>
              <a:t>Model: 2-layer LSTM-96 with additive temporal attention, BatchNorm, dropout 0.3, weighted BCE, Adam with step decay.</a:t>
            </a:r>
          </a:p>
          <a:p>
            <a:pPr algn="just">
              <a:lnSpc>
                <a:spcPct val="150000"/>
              </a:lnSpc>
            </a:pPr>
            <a:r>
              <a:rPr sz="1600">
                <a:latin typeface="Times New Roman"/>
              </a:rPr>
              <a:t>Training: full set-a plus 80% set-b, early stopping on val AUC; 3-model logit-averaged ensemble for deployment.</a:t>
            </a:r>
          </a:p>
          <a:p>
            <a:pPr algn="just">
              <a:lnSpc>
                <a:spcPct val="150000"/>
              </a:lnSpc>
            </a:pPr>
            <a:r>
              <a:rPr sz="1600">
                <a:latin typeface="Times New Roman"/>
              </a:rPr>
              <a:t>System: Vitals to FastAPI /ingest to SQLite to ensemble scorer (0-100) to React dashboard and Discord/Telegram alerts.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1176507" y="63891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CD62-EFDC-7D93-C075-F10016B0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4A718F-CDC2-156E-D98B-B0A1FEA016DF}"/>
              </a:ext>
            </a:extLst>
          </p:cNvPr>
          <p:cNvSpPr txBox="1"/>
          <p:nvPr/>
        </p:nvSpPr>
        <p:spPr>
          <a:xfrm>
            <a:off x="916635" y="325881"/>
            <a:ext cx="8902700" cy="511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 marL="3549650" algn="ctr">
              <a:lnSpc>
                <a:spcPct val="100000"/>
              </a:lnSpc>
              <a:spcBef>
                <a:spcPts val="5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549650" algn="ctr">
              <a:lnSpc>
                <a:spcPct val="100000"/>
              </a:lnSpc>
              <a:spcBef>
                <a:spcPts val="5"/>
              </a:spcBef>
            </a:pPr>
            <a:r>
              <a:rPr lang="en-IN" sz="3200" b="1" spc="-10">
                <a:solidFill>
                  <a:srgbClr val="2D5395"/>
                </a:solidFill>
                <a:latin typeface="Times New Roman"/>
                <a:cs typeface="Times New Roman"/>
              </a:rPr>
              <a:t>WORK DONE</a:t>
            </a: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/>
            </a:r>
            <a:endParaRPr sz="32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Deployed 3-model AttentionLSTM ensemble (e12+e13+c53, 12 features x 90-min window) for in-hospital mortality risk prediction.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Validation AUC 0.840; fresh unseen 20% set-B holdout AUC 0.834 (95% CI 0.825-0.843); one-time locked slices 0.828 / 0.818.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Operating point 0.70 gives precision approx. 0.50 at recall approx. 0.48 (holdout sensitivity 80.3%, specificity 75.2%).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FastAPI backend live: /ingest real-time scoring, /patients ranking, /patient/{id}/explain with SHAP and temporal attention.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React dashboard live: ranked risk board, 5 scenario simulations, threshold tuner with NEWS2 comparison, alert stream.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Explainability verified: SpO2, respiratory rate and systolic BP rank as top drivers; causal interpolation with no future leakage.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DFDF824-E940-0A8E-1565-DC52A87033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6C0FF1B3-7DDB-CDF1-FD73-F122D3A481D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A7398D9-AB48-3357-73BC-1119C559109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959072B-2CA8-E713-4EEB-2A4619E9518A}"/>
              </a:ext>
            </a:extLst>
          </p:cNvPr>
          <p:cNvSpPr txBox="1"/>
          <p:nvPr/>
        </p:nvSpPr>
        <p:spPr>
          <a:xfrm>
            <a:off x="11176507" y="63891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62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374D-626A-5B66-692A-BF297A96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B30F311-A52E-D32E-79CF-E68F204EEFA0}"/>
              </a:ext>
            </a:extLst>
          </p:cNvPr>
          <p:cNvSpPr txBox="1"/>
          <p:nvPr/>
        </p:nvSpPr>
        <p:spPr>
          <a:xfrm>
            <a:off x="916635" y="325881"/>
            <a:ext cx="9949484" cy="5116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P.A.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COLLEGE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 dirty="0">
              <a:latin typeface="Times New Roman"/>
              <a:cs typeface="Times New Roman"/>
            </a:endParaRPr>
          </a:p>
          <a:p>
            <a:pPr marL="1743075">
              <a:lnSpc>
                <a:spcPct val="100000"/>
              </a:lnSpc>
              <a:spcBef>
                <a:spcPts val="30"/>
              </a:spcBef>
            </a:pPr>
            <a:r>
              <a:rPr sz="2000" b="1" spc="-10" dirty="0">
                <a:latin typeface="Times New Roman"/>
                <a:cs typeface="Times New Roman"/>
              </a:rPr>
              <a:t>DEPARTMENT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COMPUTER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SCIENCE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&amp;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  <a:p>
            <a:pPr marL="3799840">
              <a:lnSpc>
                <a:spcPct val="100000"/>
              </a:lnSpc>
              <a:spcBef>
                <a:spcPts val="5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799840">
              <a:lnSpc>
                <a:spcPct val="100000"/>
              </a:lnSpc>
              <a:spcBef>
                <a:spcPts val="5"/>
              </a:spcBef>
            </a:pPr>
            <a:r>
              <a:rPr lang="en-IN" sz="3200" b="1" spc="-10" dirty="0">
                <a:solidFill>
                  <a:srgbClr val="2D5395"/>
                </a:solidFill>
                <a:latin typeface="Times New Roman"/>
                <a:cs typeface="Times New Roman"/>
              </a:rPr>
              <a:t>FUTURE ROADMAP</a:t>
            </a:r>
            <a:endParaRPr sz="32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Prospective validation, calibration reporting and clinician review before any clinical use (research prototype only).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Migrate training to MIMIC-IV / eICU for larger modern cohort with fairness and subgroup analysis.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Upgrade to Temporal Fusion Transformer for longer histories and improved temporal modeling.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Multimodal fusion: integrate clinical notes with BioBERT alongside vitals and labs.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Federated learning across hospitals with TinyML edge deployment for privacy-preserving monitoring.</a:t>
            </a:r>
          </a:p>
          <a:p>
            <a:pPr algn="just">
              <a:lnSpc>
                <a:spcPct val="150000"/>
              </a:lnSpc>
            </a:pPr>
            <a:r>
              <a:rPr sz="1800">
                <a:latin typeface="Times New Roman"/>
              </a:rPr>
              <a:t>Mistake-driven retraining loop: queue confirmed misses and false alarms into weighted retraining with fresh-holdout gating.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60ED64C-D3F8-AA81-272D-F0E04FE64A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78550C6-287A-E13A-208E-3F92D29657B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E294C56-3A10-36DB-4A53-7D4FD6316B2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5830570" y="6390368"/>
            <a:ext cx="52260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5" dirty="0"/>
              <a:t>202</a:t>
            </a:r>
            <a:r>
              <a:rPr lang="en-IN" spc="-25" dirty="0"/>
              <a:t>4</a:t>
            </a:r>
            <a:r>
              <a:rPr spc="-25" dirty="0"/>
              <a:t>-2</a:t>
            </a:r>
            <a:r>
              <a:rPr lang="en-IN" spc="-25" dirty="0"/>
              <a:t>5</a:t>
            </a:r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E02AC7-BEA9-BBF9-A1FF-59A5478CB3CE}"/>
              </a:ext>
            </a:extLst>
          </p:cNvPr>
          <p:cNvSpPr txBox="1"/>
          <p:nvPr/>
        </p:nvSpPr>
        <p:spPr>
          <a:xfrm>
            <a:off x="11176507" y="6389149"/>
            <a:ext cx="1016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655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6271" y="1591437"/>
            <a:ext cx="27482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Times New Roman"/>
                <a:cs typeface="Times New Roman"/>
              </a:rPr>
              <a:t>REFERENCES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635" y="2467101"/>
            <a:ext cx="621982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 algn="just">
              <a:lnSpc>
                <a:spcPct val="100000"/>
              </a:lnSpc>
              <a:spcBef>
                <a:spcPts val="95"/>
              </a:spcBef>
              <a:spcAft>
                <a:spcPts val="200"/>
              </a:spcAft>
              <a:buFont typeface="Arial MT"/>
              <a:buChar char="•"/>
              <a:tabLst>
                <a:tab pos="240029" algn="l"/>
              </a:tabLst>
            </a:pPr>
            <a:r>
              <a:rPr sz="1100">
                <a:latin typeface="Times New Roman"/>
              </a:rPr>
              <a:t>[1] Z. Zheng et al., "Development and Validation of a Dynamic Real-Time Risk Prediction Model for ICU Patients," J. Med. Internet Res., vol. 27, e69293, 2025. (Base paper)</a:t>
            </a:r>
            <a:endParaRPr spc="-10" dirty="0"/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[2] T. I. Alshwaheen et al., "Novel Framework of Patient Deterioration Prediction in ICU Based on LSTM-RNN," IEEE Access, vol. 9, 2021.</a:t>
            </a:r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[3] E. Choi et al., "Deep Interpretable Early Warning System for Detection of Clinical Deterioration," IEEE J. Biomed. Health Informat., vol. 24, no. 9, 2020.</a:t>
            </a:r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[4] Y. Li et al., "Attention Residual LSTM-FCN for Inpatient Mortality Prediction," IEEE Access, vol. 13, 2025.</a:t>
            </a:r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[5] PULSE-ICU: Pretrained Unified Long-Sequence Encoder for Multi-task ICU Prediction, arXiv:2511.22199, 2025.</a:t>
            </a:r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[6] GARLIC: Graph Attention-based Relational Learning of Multivariate Time Series in ICU, arXiv:2608.10969, 2026.</a:t>
            </a:r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[7] Z. Yan et al., "Deep learning-based in-hospital mortality prediction using long-term sequential ICU data," PeerJ, vol. 14, e21631, 2026.</a:t>
            </a:r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[8] M. R. Scheid et al., "Clinical wearable deep learning based continuous deterioration prediction," Nature Commun., vol. 16, 9513, 2025.</a:t>
            </a:r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[9] PhysioNet/Computing in Cardiology Challenge 2012: Predicting Mortality of ICU Patients (4,000 stays, 37 variables).</a:t>
            </a:r>
          </a:p>
          <a:p>
            <a:pPr algn="just">
              <a:lnSpc>
                <a:spcPct val="100000"/>
              </a:lnSpc>
              <a:spcAft>
                <a:spcPts val="200"/>
              </a:spcAft>
            </a:pPr>
            <a:r>
              <a:rPr sz="1100">
                <a:latin typeface="Times New Roman"/>
              </a:rPr>
              <a:t>[10] L. Wang et al., "Expert Augmented Prediction of Circulatory and Respiratory Instability," npj Digit. Med., 2026.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68552" cy="14112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6119" y="0"/>
            <a:ext cx="1325879" cy="1411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2620" y="408431"/>
            <a:ext cx="8392668" cy="59588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20" dirty="0"/>
              <a:t>DEPT.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5" dirty="0"/>
              <a:t>CSE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57551" y="6396535"/>
            <a:ext cx="52070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ts val="1410"/>
              </a:lnSpc>
            </a:pPr>
            <a:r>
              <a:rPr sz="1200" spc="-25" dirty="0">
                <a:latin typeface="Times New Roman"/>
                <a:cs typeface="Times New Roman"/>
              </a:rPr>
              <a:t>202</a:t>
            </a:r>
            <a:r>
              <a:rPr lang="en-IN" sz="1200" spc="-25" dirty="0">
                <a:latin typeface="Times New Roman"/>
                <a:cs typeface="Times New Roman"/>
              </a:rPr>
              <a:t>4-25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THANK</a:t>
            </a:r>
            <a:r>
              <a:rPr spc="-275" dirty="0"/>
              <a:t> </a:t>
            </a:r>
            <a:r>
              <a:rPr spc="-25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470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Calibri</vt:lpstr>
      <vt:lpstr>Times New Roman</vt:lpstr>
      <vt:lpstr>Office Theme</vt:lpstr>
      <vt:lpstr>P.A. COLLEGE OF ENGINEERING DEPARTMENT OF COMPUTER SCIENCE &amp;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RAIHANA HAIDER</dc:creator>
  <cp:lastModifiedBy>RAIHANA HAIDER</cp:lastModifiedBy>
  <cp:revision>4</cp:revision>
  <dcterms:created xsi:type="dcterms:W3CDTF">2024-04-16T04:12:02Z</dcterms:created>
  <dcterms:modified xsi:type="dcterms:W3CDTF">2025-03-20T08:55:59Z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2024-04-16T00:00:00Z</vt:filetime>
  </property>
  <property fmtid="{D5CDD505-2E9C-101B-9397-08002B2CF9AE}" pid="5" name="Producer">
    <vt:lpwstr>Microsoft® PowerPoint® 2013</vt:lpwstr>
  </property>
</Properties>
</file>
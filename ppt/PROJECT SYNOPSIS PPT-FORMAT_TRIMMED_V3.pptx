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71" r:id="rId4"/>
    <p:sldId id="260" r:id="rId5"/>
    <p:sldId id="259" r:id="rId6"/>
    <p:sldId id="261" r:id="rId7"/>
    <p:sldId id="273" r:id="rId8"/>
    <p:sldId id="272" r:id="rId9"/>
    <p:sldId id="263" r:id="rId10"/>
    <p:sldId id="264" r:id="rId1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IHANA HAIDER" userId="feea5b789fbace17" providerId="LiveId" clId="{62240055-6E5F-4B16-9FAE-C0DEBC3C6ADC}"/>
    <pc:docChg chg="addSld delSld modSld sldOrd">
      <pc:chgData name="RAIHANA HAIDER" userId="feea5b789fbace17" providerId="LiveId" clId="{62240055-6E5F-4B16-9FAE-C0DEBC3C6ADC}" dt="2025-03-20T08:55:58.891" v="64" actId="20577"/>
      <pc:docMkLst>
        <pc:docMk/>
      </pc:docMkLst>
      <pc:sldChg chg="ord">
        <pc:chgData name="RAIHANA HAIDER" userId="feea5b789fbace17" providerId="LiveId" clId="{62240055-6E5F-4B16-9FAE-C0DEBC3C6ADC}" dt="2025-03-20T08:55:23.382" v="39"/>
        <pc:sldMkLst>
          <pc:docMk/>
          <pc:sldMk cId="0" sldId="259"/>
        </pc:sldMkLst>
      </pc:sldChg>
      <pc:sldChg chg="modSp mod">
        <pc:chgData name="RAIHANA HAIDER" userId="feea5b789fbace17" providerId="LiveId" clId="{62240055-6E5F-4B16-9FAE-C0DEBC3C6ADC}" dt="2025-03-20T08:54:05.328" v="22" actId="20577"/>
        <pc:sldMkLst>
          <pc:docMk/>
          <pc:sldMk cId="0" sldId="262"/>
        </pc:sldMkLst>
        <pc:spChg chg="mod">
          <ac:chgData name="RAIHANA HAIDER" userId="feea5b789fbace17" providerId="LiveId" clId="{62240055-6E5F-4B16-9FAE-C0DEBC3C6ADC}" dt="2025-03-20T08:54:05.328" v="22" actId="20577"/>
          <ac:spMkLst>
            <pc:docMk/>
            <pc:sldMk cId="0" sldId="262"/>
            <ac:spMk id="2" creationId="{00000000-0000-0000-0000-000000000000}"/>
          </ac:spMkLst>
        </pc:spChg>
      </pc:sldChg>
      <pc:sldChg chg="modSp mod">
        <pc:chgData name="RAIHANA HAIDER" userId="feea5b789fbace17" providerId="LiveId" clId="{62240055-6E5F-4B16-9FAE-C0DEBC3C6ADC}" dt="2025-03-20T08:53:53.129" v="12" actId="20577"/>
        <pc:sldMkLst>
          <pc:docMk/>
          <pc:sldMk cId="0" sldId="263"/>
        </pc:sldMkLst>
        <pc:spChg chg="mod">
          <ac:chgData name="RAIHANA HAIDER" userId="feea5b789fbace17" providerId="LiveId" clId="{62240055-6E5F-4B16-9FAE-C0DEBC3C6ADC}" dt="2025-03-20T08:53:53.129" v="12" actId="20577"/>
          <ac:spMkLst>
            <pc:docMk/>
            <pc:sldMk cId="0" sldId="263"/>
            <ac:spMk id="3" creationId="{00000000-0000-0000-0000-000000000000}"/>
          </ac:spMkLst>
        </pc:spChg>
      </pc:sldChg>
      <pc:sldChg chg="modSp add mod">
        <pc:chgData name="RAIHANA HAIDER" userId="feea5b789fbace17" providerId="LiveId" clId="{62240055-6E5F-4B16-9FAE-C0DEBC3C6ADC}" dt="2025-03-20T08:54:58.492" v="37" actId="20577"/>
        <pc:sldMkLst>
          <pc:docMk/>
          <pc:sldMk cId="616556129" sldId="272"/>
        </pc:sldMkLst>
        <pc:spChg chg="mod">
          <ac:chgData name="RAIHANA HAIDER" userId="feea5b789fbace17" providerId="LiveId" clId="{62240055-6E5F-4B16-9FAE-C0DEBC3C6ADC}" dt="2025-03-20T08:54:58.492" v="37" actId="20577"/>
          <ac:spMkLst>
            <pc:docMk/>
            <pc:sldMk cId="616556129" sldId="272"/>
            <ac:spMk id="2" creationId="{9B30F311-A52E-D32E-79CF-E68F204EEFA0}"/>
          </ac:spMkLst>
        </pc:spChg>
      </pc:sldChg>
      <pc:sldChg chg="new del">
        <pc:chgData name="RAIHANA HAIDER" userId="feea5b789fbace17" providerId="LiveId" clId="{62240055-6E5F-4B16-9FAE-C0DEBC3C6ADC}" dt="2025-03-20T08:54:45.215" v="24" actId="2696"/>
        <pc:sldMkLst>
          <pc:docMk/>
          <pc:sldMk cId="4230627005" sldId="272"/>
        </pc:sldMkLst>
      </pc:sldChg>
      <pc:sldChg chg="modSp add mod">
        <pc:chgData name="RAIHANA HAIDER" userId="feea5b789fbace17" providerId="LiveId" clId="{62240055-6E5F-4B16-9FAE-C0DEBC3C6ADC}" dt="2025-03-20T08:55:58.891" v="64" actId="20577"/>
        <pc:sldMkLst>
          <pc:docMk/>
          <pc:sldMk cId="31462316" sldId="273"/>
        </pc:sldMkLst>
        <pc:spChg chg="mod">
          <ac:chgData name="RAIHANA HAIDER" userId="feea5b789fbace17" providerId="LiveId" clId="{62240055-6E5F-4B16-9FAE-C0DEBC3C6ADC}" dt="2025-03-20T08:55:58.891" v="64" actId="20577"/>
          <ac:spMkLst>
            <pc:docMk/>
            <pc:sldMk cId="31462316" sldId="273"/>
            <ac:spMk id="2" creationId="{144A718F-CDC2-156E-D98B-B0A1FEA016DF}"/>
          </ac:spMkLst>
        </pc:spChg>
      </pc:sldChg>
    </pc:docChg>
  </pc:docChgLst>
  <pc:docChgLst>
    <pc:chgData name="RAIHANA HAIDER" userId="feea5b789fbace17" providerId="LiveId" clId="{7E4D1962-E2EB-4390-8447-0BDF9FC82F59}"/>
    <pc:docChg chg="custSel delSld modSld">
      <pc:chgData name="RAIHANA HAIDER" userId="feea5b789fbace17" providerId="LiveId" clId="{7E4D1962-E2EB-4390-8447-0BDF9FC82F59}" dt="2024-10-01T08:45:39.851" v="103" actId="1076"/>
      <pc:docMkLst>
        <pc:docMk/>
      </pc:docMkLst>
      <pc:sldChg chg="modSp mod">
        <pc:chgData name="RAIHANA HAIDER" userId="feea5b789fbace17" providerId="LiveId" clId="{7E4D1962-E2EB-4390-8447-0BDF9FC82F59}" dt="2024-10-01T08:43:14.478" v="76" actId="20577"/>
        <pc:sldMkLst>
          <pc:docMk/>
          <pc:sldMk cId="0" sldId="257"/>
        </pc:sldMkLst>
      </pc:sldChg>
      <pc:sldChg chg="modSp mod">
        <pc:chgData name="RAIHANA HAIDER" userId="feea5b789fbace17" providerId="LiveId" clId="{7E4D1962-E2EB-4390-8447-0BDF9FC82F59}" dt="2024-10-01T08:43:43.511" v="82" actId="20577"/>
        <pc:sldMkLst>
          <pc:docMk/>
          <pc:sldMk cId="0" sldId="259"/>
        </pc:sldMkLst>
      </pc:sldChg>
      <pc:sldChg chg="modSp mod">
        <pc:chgData name="RAIHANA HAIDER" userId="feea5b789fbace17" providerId="LiveId" clId="{7E4D1962-E2EB-4390-8447-0BDF9FC82F59}" dt="2024-10-01T08:44:41.159" v="92" actId="20577"/>
        <pc:sldMkLst>
          <pc:docMk/>
          <pc:sldMk cId="0" sldId="260"/>
        </pc:sldMkLst>
      </pc:sldChg>
      <pc:sldChg chg="modSp mod">
        <pc:chgData name="RAIHANA HAIDER" userId="feea5b789fbace17" providerId="LiveId" clId="{7E4D1962-E2EB-4390-8447-0BDF9FC82F59}" dt="2024-10-01T08:45:03.618" v="98" actId="20577"/>
        <pc:sldMkLst>
          <pc:docMk/>
          <pc:sldMk cId="0" sldId="261"/>
        </pc:sldMkLst>
      </pc:sldChg>
      <pc:sldChg chg="modSp mod">
        <pc:chgData name="RAIHANA HAIDER" userId="feea5b789fbace17" providerId="LiveId" clId="{7E4D1962-E2EB-4390-8447-0BDF9FC82F59}" dt="2024-10-01T08:45:24.522" v="102" actId="20577"/>
        <pc:sldMkLst>
          <pc:docMk/>
          <pc:sldMk cId="0" sldId="262"/>
        </pc:sldMkLst>
      </pc:sldChg>
      <pc:sldChg chg="delSp modSp mod">
        <pc:chgData name="RAIHANA HAIDER" userId="feea5b789fbace17" providerId="LiveId" clId="{7E4D1962-E2EB-4390-8447-0BDF9FC82F59}" dt="2024-10-01T08:45:39.851" v="103" actId="1076"/>
        <pc:sldMkLst>
          <pc:docMk/>
          <pc:sldMk cId="0" sldId="263"/>
        </pc:sldMkLst>
      </pc:sldChg>
      <pc:sldChg chg="del">
        <pc:chgData name="RAIHANA HAIDER" userId="feea5b789fbace17" providerId="LiveId" clId="{7E4D1962-E2EB-4390-8447-0BDF9FC82F59}" dt="2024-10-01T08:40:31.091" v="0" actId="47"/>
        <pc:sldMkLst>
          <pc:docMk/>
          <pc:sldMk cId="2704898877" sldId="265"/>
        </pc:sldMkLst>
      </pc:sldChg>
      <pc:sldChg chg="del">
        <pc:chgData name="RAIHANA HAIDER" userId="feea5b789fbace17" providerId="LiveId" clId="{7E4D1962-E2EB-4390-8447-0BDF9FC82F59}" dt="2024-10-01T08:40:31.091" v="0" actId="47"/>
        <pc:sldMkLst>
          <pc:docMk/>
          <pc:sldMk cId="2964426329" sldId="266"/>
        </pc:sldMkLst>
      </pc:sldChg>
      <pc:sldChg chg="del">
        <pc:chgData name="RAIHANA HAIDER" userId="feea5b789fbace17" providerId="LiveId" clId="{7E4D1962-E2EB-4390-8447-0BDF9FC82F59}" dt="2024-10-01T08:40:31.091" v="0" actId="47"/>
        <pc:sldMkLst>
          <pc:docMk/>
          <pc:sldMk cId="124744618" sldId="267"/>
        </pc:sldMkLst>
      </pc:sldChg>
      <pc:sldChg chg="del">
        <pc:chgData name="RAIHANA HAIDER" userId="feea5b789fbace17" providerId="LiveId" clId="{7E4D1962-E2EB-4390-8447-0BDF9FC82F59}" dt="2024-10-01T08:40:31.091" v="0" actId="47"/>
        <pc:sldMkLst>
          <pc:docMk/>
          <pc:sldMk cId="3003659065" sldId="268"/>
        </pc:sldMkLst>
      </pc:sldChg>
      <pc:sldChg chg="del">
        <pc:chgData name="RAIHANA HAIDER" userId="feea5b789fbace17" providerId="LiveId" clId="{7E4D1962-E2EB-4390-8447-0BDF9FC82F59}" dt="2024-10-01T08:40:31.091" v="0" actId="47"/>
        <pc:sldMkLst>
          <pc:docMk/>
          <pc:sldMk cId="400948982" sldId="269"/>
        </pc:sldMkLst>
      </pc:sldChg>
      <pc:sldChg chg="del">
        <pc:chgData name="RAIHANA HAIDER" userId="feea5b789fbace17" providerId="LiveId" clId="{7E4D1962-E2EB-4390-8447-0BDF9FC82F59}" dt="2024-10-01T08:40:31.091" v="0" actId="47"/>
        <pc:sldMkLst>
          <pc:docMk/>
          <pc:sldMk cId="1254103891" sldId="270"/>
        </pc:sldMkLst>
      </pc:sldChg>
      <pc:sldChg chg="modSp mod">
        <pc:chgData name="RAIHANA HAIDER" userId="feea5b789fbace17" providerId="LiveId" clId="{7E4D1962-E2EB-4390-8447-0BDF9FC82F59}" dt="2024-10-01T08:44:05.129" v="88" actId="20577"/>
        <pc:sldMkLst>
          <pc:docMk/>
          <pc:sldMk cId="1107851215"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4AD2C176-0849-431B-8988-DF26364DC9BA}" type="datetimeFigureOut">
              <a:rPr lang="en-IN" smtClean="0"/>
              <a:t>05-10-2026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711396B-1C0F-4798-BA0F-0C5EE09670DE}" type="slidenum">
              <a:rPr lang="en-IN" smtClean="0"/>
              <a:t>‹#›</a:t>
            </a:fld>
            <a:endParaRPr lang="en-IN"/>
          </a:p>
        </p:txBody>
      </p:sp>
    </p:spTree>
    <p:extLst>
      <p:ext uri="{BB962C8B-B14F-4D97-AF65-F5344CB8AC3E}">
        <p14:creationId xmlns:p14="http://schemas.microsoft.com/office/powerpoint/2010/main" val="1191160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7000" b="0" i="0">
                <a:solidFill>
                  <a:srgbClr val="2D5395"/>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rgbClr val="2D5395"/>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20" dirty="0"/>
              <a:t>DEPT.</a:t>
            </a:r>
            <a:r>
              <a:rPr spc="-35" dirty="0"/>
              <a:t> </a:t>
            </a:r>
            <a:r>
              <a:rPr dirty="0"/>
              <a:t>OF</a:t>
            </a:r>
            <a:r>
              <a:rPr spc="-45" dirty="0"/>
              <a:t> </a:t>
            </a:r>
            <a:r>
              <a:rPr spc="-25" dirty="0"/>
              <a:t>CSE</a:t>
            </a:r>
          </a:p>
        </p:txBody>
      </p:sp>
      <p:sp>
        <p:nvSpPr>
          <p:cNvPr id="5" name="Holder 5"/>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25" dirty="0"/>
              <a:t>2023-24</a:t>
            </a:r>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000" b="0" i="0">
                <a:solidFill>
                  <a:srgbClr val="2D5395"/>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rgbClr val="2D5395"/>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20" dirty="0"/>
              <a:t>DEPT.</a:t>
            </a:r>
            <a:r>
              <a:rPr spc="-35" dirty="0"/>
              <a:t> </a:t>
            </a:r>
            <a:r>
              <a:rPr dirty="0"/>
              <a:t>OF</a:t>
            </a:r>
            <a:r>
              <a:rPr spc="-45" dirty="0"/>
              <a:t> </a:t>
            </a:r>
            <a:r>
              <a:rPr spc="-25" dirty="0"/>
              <a:t>CSE</a:t>
            </a:r>
          </a:p>
        </p:txBody>
      </p:sp>
      <p:sp>
        <p:nvSpPr>
          <p:cNvPr id="5" name="Holder 5"/>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25" dirty="0"/>
              <a:t>2023-24</a:t>
            </a:r>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000" b="0" i="0">
                <a:solidFill>
                  <a:srgbClr val="2D5395"/>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20" dirty="0"/>
              <a:t>DEPT.</a:t>
            </a:r>
            <a:r>
              <a:rPr spc="-35" dirty="0"/>
              <a:t> </a:t>
            </a:r>
            <a:r>
              <a:rPr dirty="0"/>
              <a:t>OF</a:t>
            </a:r>
            <a:r>
              <a:rPr spc="-45" dirty="0"/>
              <a:t> </a:t>
            </a:r>
            <a:r>
              <a:rPr spc="-25" dirty="0"/>
              <a:t>CSE</a:t>
            </a:r>
          </a:p>
        </p:txBody>
      </p:sp>
      <p:sp>
        <p:nvSpPr>
          <p:cNvPr id="6" name="Holder 6"/>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25" dirty="0"/>
              <a:t>2023-24</a:t>
            </a:r>
          </a:p>
        </p:txBody>
      </p:sp>
      <p:sp>
        <p:nvSpPr>
          <p:cNvPr id="7" name="Holder 7"/>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000" b="0" i="0">
                <a:solidFill>
                  <a:srgbClr val="2D5395"/>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20" dirty="0"/>
              <a:t>DEPT.</a:t>
            </a:r>
            <a:r>
              <a:rPr spc="-35" dirty="0"/>
              <a:t> </a:t>
            </a:r>
            <a:r>
              <a:rPr dirty="0"/>
              <a:t>OF</a:t>
            </a:r>
            <a:r>
              <a:rPr spc="-45" dirty="0"/>
              <a:t> </a:t>
            </a:r>
            <a:r>
              <a:rPr spc="-25" dirty="0"/>
              <a:t>CSE</a:t>
            </a:r>
          </a:p>
        </p:txBody>
      </p:sp>
      <p:sp>
        <p:nvSpPr>
          <p:cNvPr id="4" name="Holder 4"/>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25" dirty="0"/>
              <a:t>2023-24</a:t>
            </a:r>
          </a:p>
        </p:txBody>
      </p:sp>
      <p:sp>
        <p:nvSpPr>
          <p:cNvPr id="5" name="Holder 5"/>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20" dirty="0"/>
              <a:t>DEPT.</a:t>
            </a:r>
            <a:r>
              <a:rPr spc="-35" dirty="0"/>
              <a:t> </a:t>
            </a:r>
            <a:r>
              <a:rPr dirty="0"/>
              <a:t>OF</a:t>
            </a:r>
            <a:r>
              <a:rPr spc="-45" dirty="0"/>
              <a:t> </a:t>
            </a:r>
            <a:r>
              <a:rPr spc="-25" dirty="0"/>
              <a:t>CSE</a:t>
            </a:r>
          </a:p>
        </p:txBody>
      </p:sp>
      <p:sp>
        <p:nvSpPr>
          <p:cNvPr id="3" name="Holder 3"/>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25" dirty="0"/>
              <a:t>2023-24</a:t>
            </a:r>
          </a:p>
        </p:txBody>
      </p:sp>
      <p:sp>
        <p:nvSpPr>
          <p:cNvPr id="4" name="Holder 4"/>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368552" cy="1411224"/>
          </a:xfrm>
          <a:prstGeom prst="rect">
            <a:avLst/>
          </a:prstGeom>
        </p:spPr>
      </p:pic>
      <p:sp>
        <p:nvSpPr>
          <p:cNvPr id="2" name="Holder 2"/>
          <p:cNvSpPr>
            <a:spLocks noGrp="1"/>
          </p:cNvSpPr>
          <p:nvPr>
            <p:ph type="title"/>
          </p:nvPr>
        </p:nvSpPr>
        <p:spPr>
          <a:xfrm>
            <a:off x="3472434" y="2585973"/>
            <a:ext cx="5238750" cy="1092200"/>
          </a:xfrm>
          <a:prstGeom prst="rect">
            <a:avLst/>
          </a:prstGeom>
        </p:spPr>
        <p:txBody>
          <a:bodyPr wrap="square" lIns="0" tIns="0" rIns="0" bIns="0">
            <a:spAutoFit/>
          </a:bodyPr>
          <a:lstStyle>
            <a:lvl1pPr>
              <a:defRPr sz="7000" b="0" i="0">
                <a:solidFill>
                  <a:srgbClr val="2D5395"/>
                </a:solidFill>
                <a:latin typeface="Times New Roman"/>
                <a:cs typeface="Times New Roman"/>
              </a:defRPr>
            </a:lvl1pPr>
          </a:lstStyle>
          <a:p>
            <a:endParaRPr/>
          </a:p>
        </p:txBody>
      </p:sp>
      <p:sp>
        <p:nvSpPr>
          <p:cNvPr id="3" name="Holder 3"/>
          <p:cNvSpPr>
            <a:spLocks noGrp="1"/>
          </p:cNvSpPr>
          <p:nvPr>
            <p:ph type="body" idx="1"/>
          </p:nvPr>
        </p:nvSpPr>
        <p:spPr>
          <a:xfrm>
            <a:off x="916635" y="2467101"/>
            <a:ext cx="6219825" cy="3175635"/>
          </a:xfrm>
          <a:prstGeom prst="rect">
            <a:avLst/>
          </a:prstGeom>
        </p:spPr>
        <p:txBody>
          <a:bodyPr wrap="square" lIns="0" tIns="0" rIns="0" bIns="0">
            <a:spAutoFit/>
          </a:bodyPr>
          <a:lstStyle>
            <a:lvl1pPr>
              <a:defRPr sz="2800" b="0" i="0">
                <a:solidFill>
                  <a:srgbClr val="2D5395"/>
                </a:solidFill>
                <a:latin typeface="Times New Roman"/>
                <a:cs typeface="Times New Roman"/>
              </a:defRPr>
            </a:lvl1pPr>
          </a:lstStyle>
          <a:p>
            <a:endParaRPr/>
          </a:p>
        </p:txBody>
      </p:sp>
      <p:sp>
        <p:nvSpPr>
          <p:cNvPr id="4" name="Holder 4"/>
          <p:cNvSpPr>
            <a:spLocks noGrp="1"/>
          </p:cNvSpPr>
          <p:nvPr>
            <p:ph type="ftr" sz="quarter" idx="5"/>
          </p:nvPr>
        </p:nvSpPr>
        <p:spPr>
          <a:xfrm>
            <a:off x="916635" y="6389149"/>
            <a:ext cx="972185" cy="194309"/>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ts val="1410"/>
              </a:lnSpc>
            </a:pPr>
            <a:r>
              <a:rPr spc="-20" dirty="0"/>
              <a:t>DEPT.</a:t>
            </a:r>
            <a:r>
              <a:rPr spc="-35" dirty="0"/>
              <a:t> </a:t>
            </a:r>
            <a:r>
              <a:rPr dirty="0"/>
              <a:t>OF</a:t>
            </a:r>
            <a:r>
              <a:rPr spc="-45" dirty="0"/>
              <a:t> </a:t>
            </a:r>
            <a:r>
              <a:rPr spc="-25" dirty="0"/>
              <a:t>CSE</a:t>
            </a:r>
          </a:p>
        </p:txBody>
      </p:sp>
      <p:sp>
        <p:nvSpPr>
          <p:cNvPr id="5" name="Holder 5"/>
          <p:cNvSpPr>
            <a:spLocks noGrp="1"/>
          </p:cNvSpPr>
          <p:nvPr>
            <p:ph type="dt" sz="half" idx="6"/>
          </p:nvPr>
        </p:nvSpPr>
        <p:spPr>
          <a:xfrm>
            <a:off x="5830570" y="6390368"/>
            <a:ext cx="522604" cy="194309"/>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ts val="1410"/>
              </a:lnSpc>
            </a:pPr>
            <a:r>
              <a:rPr spc="-25" dirty="0"/>
              <a:t>2023-24</a:t>
            </a:r>
          </a:p>
        </p:txBody>
      </p:sp>
      <p:sp>
        <p:nvSpPr>
          <p:cNvPr id="6" name="Holder 6"/>
          <p:cNvSpPr>
            <a:spLocks noGrp="1"/>
          </p:cNvSpPr>
          <p:nvPr>
            <p:ph type="sldNum" sz="quarter" idx="7"/>
          </p:nvPr>
        </p:nvSpPr>
        <p:spPr>
          <a:xfrm>
            <a:off x="11062716" y="6389149"/>
            <a:ext cx="253491" cy="194309"/>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38100">
              <a:lnSpc>
                <a:spcPts val="141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295400" y="2057400"/>
            <a:ext cx="9982200" cy="6683881"/>
          </a:xfrm>
          <a:prstGeom prst="rect">
            <a:avLst/>
          </a:prstGeom>
        </p:spPr>
        <p:txBody>
          <a:bodyPr vert="horz" wrap="square" lIns="0" tIns="12700" rIns="0" bIns="0" rtlCol="0">
            <a:spAutoFit/>
          </a:bodyPr>
          <a:lstStyle/>
          <a:p>
            <a:pPr marL="12700" algn="ctr">
              <a:lnSpc>
                <a:spcPct val="100000"/>
              </a:lnSpc>
              <a:spcBef>
                <a:spcPts val="100"/>
              </a:spcBef>
            </a:pPr>
            <a:r>
              <a:rPr lang="en-IN" sz="6000" dirty="0">
                <a:latin typeface="Times New Roman"/>
                <a:cs typeface="Times New Roman"/>
              </a:rPr>
              <a:t>SynCura: Predictive ICU Monitoring System Using Attention-Based LSTM</a:t>
            </a:r>
            <a:endParaRPr lang="en-IN" sz="6000" spc="-10" dirty="0">
              <a:latin typeface="Times New Roman"/>
              <a:cs typeface="Times New Roman"/>
            </a:endParaRPr>
          </a:p>
          <a:p>
            <a:pPr marL="12700" algn="ctr">
              <a:spcBef>
                <a:spcPts val="100"/>
              </a:spcBef>
            </a:pPr>
            <a:r>
              <a:rPr sz="1800" dirty="0">
                <a:latin typeface="Times New Roman"/>
              </a:rPr>
              <a:t>Real-time in-hospital mortality risk with SHAP + temporal-attention explainability</a:t>
            </a:r>
            <a:endParaRPr lang="en-IN" spc="-20" dirty="0">
              <a:latin typeface="Times New Roman"/>
              <a:cs typeface="Times New Roman"/>
            </a:endParaRPr>
          </a:p>
          <a:p>
            <a:pPr marR="6350" algn="l">
              <a:lnSpc>
                <a:spcPct val="100000"/>
              </a:lnSpc>
              <a:spcBef>
                <a:spcPts val="1210"/>
              </a:spcBef>
              <a:tabLst>
                <a:tab pos="9900000" algn="r"/>
              </a:tabLst>
            </a:pPr>
            <a:r>
              <a:rPr lang="en-US" sz="1400" dirty="0">
                <a:latin typeface="Times New Roman"/>
                <a:cs typeface="Times New Roman"/>
              </a:rPr>
              <a:t>UNDER THE GUIDANCE OF	TEAM MEMBERS</a:t>
            </a:r>
            <a:endParaRPr lang="en-US" sz="1800" dirty="0">
              <a:latin typeface="Times New Roman"/>
              <a:cs typeface="Times New Roman"/>
            </a:endParaRPr>
          </a:p>
          <a:p>
            <a:pPr marR="5080" algn="l">
              <a:lnSpc>
                <a:spcPct val="100000"/>
              </a:lnSpc>
              <a:spcBef>
                <a:spcPts val="1105"/>
              </a:spcBef>
              <a:tabLst>
                <a:tab pos="9900000" algn="r"/>
              </a:tabLst>
            </a:pPr>
            <a:r>
              <a:rPr lang="en-US" sz="1400" spc="-10" dirty="0">
                <a:latin typeface="Times New Roman"/>
                <a:cs typeface="Times New Roman"/>
              </a:rPr>
              <a:t>Divya K</a:t>
            </a:r>
          </a:p>
          <a:p>
            <a:pPr marR="5080" algn="l">
              <a:lnSpc>
                <a:spcPct val="100000"/>
              </a:lnSpc>
              <a:spcBef>
                <a:spcPts val="220"/>
              </a:spcBef>
              <a:tabLst>
                <a:tab pos="9900000" algn="r"/>
              </a:tabLst>
            </a:pPr>
            <a:r>
              <a:rPr lang="en-US" sz="1400" spc="-10" dirty="0">
                <a:latin typeface="Times New Roman"/>
                <a:cs typeface="Times New Roman"/>
              </a:rPr>
              <a:t>	Abdul Ahad Ikkeri - 4PA24CS002</a:t>
            </a:r>
          </a:p>
          <a:p>
            <a:pPr marR="5080" algn="l">
              <a:lnSpc>
                <a:spcPct val="100000"/>
              </a:lnSpc>
              <a:spcBef>
                <a:spcPts val="220"/>
              </a:spcBef>
              <a:tabLst>
                <a:tab pos="9900000" algn="r"/>
              </a:tabLst>
            </a:pPr>
            <a:r>
              <a:rPr lang="en-US" sz="1400" spc="-10" dirty="0">
                <a:latin typeface="Times New Roman"/>
                <a:cs typeface="Times New Roman"/>
              </a:rPr>
              <a:t>	Fathima Reeha - 4PA24CS026</a:t>
            </a:r>
          </a:p>
          <a:p>
            <a:pPr marR="5080" algn="l">
              <a:lnSpc>
                <a:spcPct val="100000"/>
              </a:lnSpc>
              <a:spcBef>
                <a:spcPts val="220"/>
              </a:spcBef>
              <a:tabLst>
                <a:tab pos="9900000" algn="r"/>
              </a:tabLst>
            </a:pPr>
            <a:r>
              <a:rPr lang="en-US" sz="1400" spc="-10" dirty="0">
                <a:latin typeface="Times New Roman"/>
                <a:cs typeface="Times New Roman"/>
              </a:rPr>
              <a:t>	Fizan Feroz - 4PA24CS032</a:t>
            </a:r>
          </a:p>
          <a:p>
            <a:pPr marL="12700" algn="ctr">
              <a:spcBef>
                <a:spcPts val="100"/>
              </a:spcBef>
            </a:pPr>
            <a:endParaRPr lang="en-IN" dirty="0">
              <a:latin typeface="Times New Roman"/>
              <a:cs typeface="Times New Roman"/>
            </a:endParaRPr>
          </a:p>
          <a:p>
            <a:pPr marL="12700">
              <a:lnSpc>
                <a:spcPct val="100000"/>
              </a:lnSpc>
              <a:spcBef>
                <a:spcPts val="100"/>
              </a:spcBef>
            </a:pPr>
            <a:endParaRPr lang="en-IN" sz="6000" spc="-10" dirty="0">
              <a:latin typeface="Times New Roman"/>
              <a:cs typeface="Times New Roman"/>
            </a:endParaRPr>
          </a:p>
          <a:p>
            <a:pPr marL="12700">
              <a:lnSpc>
                <a:spcPct val="100000"/>
              </a:lnSpc>
              <a:spcBef>
                <a:spcPts val="100"/>
              </a:spcBef>
            </a:pPr>
            <a:r>
              <a:rPr lang="en-IN" sz="6000" spc="-10" dirty="0">
                <a:latin typeface="Times New Roman"/>
                <a:cs typeface="Times New Roman"/>
              </a:rPr>
              <a:t>             </a:t>
            </a:r>
            <a:endParaRPr sz="6000" dirty="0">
              <a:latin typeface="Times New Roman"/>
              <a:cs typeface="Times New Roman"/>
            </a:endParaRPr>
          </a:p>
        </p:txBody>
      </p:sp>
      <p:pic>
        <p:nvPicPr>
          <p:cNvPr id="3" name="object 3"/>
          <p:cNvPicPr/>
          <p:nvPr/>
        </p:nvPicPr>
        <p:blipFill>
          <a:blip r:embed="rId2" cstate="print"/>
          <a:stretch>
            <a:fillRect/>
          </a:stretch>
        </p:blipFill>
        <p:spPr>
          <a:xfrm>
            <a:off x="252984" y="83819"/>
            <a:ext cx="1368552" cy="1411224"/>
          </a:xfrm>
          <a:prstGeom prst="rect">
            <a:avLst/>
          </a:prstGeom>
        </p:spPr>
      </p:pic>
      <p:pic>
        <p:nvPicPr>
          <p:cNvPr id="4" name="object 4"/>
          <p:cNvPicPr/>
          <p:nvPr/>
        </p:nvPicPr>
        <p:blipFill>
          <a:blip r:embed="rId3" cstate="print"/>
          <a:stretch>
            <a:fillRect/>
          </a:stretch>
        </p:blipFill>
        <p:spPr>
          <a:xfrm>
            <a:off x="10562843" y="83819"/>
            <a:ext cx="1325879" cy="1411224"/>
          </a:xfrm>
          <a:prstGeom prst="rect">
            <a:avLst/>
          </a:prstGeom>
        </p:spPr>
      </p:pic>
      <p:sp>
        <p:nvSpPr>
          <p:cNvPr id="7" name="object 7"/>
          <p:cNvSpPr txBox="1">
            <a:spLocks noGrp="1"/>
          </p:cNvSpPr>
          <p:nvPr>
            <p:ph type="title"/>
          </p:nvPr>
        </p:nvSpPr>
        <p:spPr>
          <a:xfrm>
            <a:off x="2699385" y="325881"/>
            <a:ext cx="7171690" cy="760730"/>
          </a:xfrm>
          <a:prstGeom prst="rect">
            <a:avLst/>
          </a:prstGeom>
        </p:spPr>
        <p:txBody>
          <a:bodyPr vert="horz" wrap="square" lIns="0" tIns="12065" rIns="0" bIns="0" rtlCol="0">
            <a:spAutoFit/>
          </a:bodyPr>
          <a:lstStyle/>
          <a:p>
            <a:pPr marL="721360">
              <a:lnSpc>
                <a:spcPct val="100000"/>
              </a:lnSpc>
              <a:spcBef>
                <a:spcPts val="95"/>
              </a:spcBef>
            </a:pPr>
            <a:r>
              <a:rPr sz="2800" b="1" dirty="0">
                <a:solidFill>
                  <a:srgbClr val="000000"/>
                </a:solidFill>
                <a:latin typeface="Times New Roman"/>
                <a:cs typeface="Times New Roman"/>
              </a:rPr>
              <a:t>P.A.</a:t>
            </a:r>
            <a:r>
              <a:rPr sz="2800" b="1" spc="-50" dirty="0">
                <a:solidFill>
                  <a:srgbClr val="000000"/>
                </a:solidFill>
                <a:latin typeface="Times New Roman"/>
                <a:cs typeface="Times New Roman"/>
              </a:rPr>
              <a:t> </a:t>
            </a:r>
            <a:r>
              <a:rPr sz="2800" b="1" dirty="0">
                <a:solidFill>
                  <a:srgbClr val="000000"/>
                </a:solidFill>
                <a:latin typeface="Times New Roman"/>
                <a:cs typeface="Times New Roman"/>
              </a:rPr>
              <a:t>COLLEGE</a:t>
            </a:r>
            <a:r>
              <a:rPr sz="2800" b="1" spc="-35" dirty="0">
                <a:solidFill>
                  <a:srgbClr val="000000"/>
                </a:solidFill>
                <a:latin typeface="Times New Roman"/>
                <a:cs typeface="Times New Roman"/>
              </a:rPr>
              <a:t> </a:t>
            </a:r>
            <a:r>
              <a:rPr sz="2800" b="1" dirty="0">
                <a:solidFill>
                  <a:srgbClr val="000000"/>
                </a:solidFill>
                <a:latin typeface="Times New Roman"/>
                <a:cs typeface="Times New Roman"/>
              </a:rPr>
              <a:t>OF</a:t>
            </a:r>
            <a:r>
              <a:rPr sz="2800" b="1" spc="-60" dirty="0">
                <a:solidFill>
                  <a:srgbClr val="000000"/>
                </a:solidFill>
                <a:latin typeface="Times New Roman"/>
                <a:cs typeface="Times New Roman"/>
              </a:rPr>
              <a:t> </a:t>
            </a:r>
            <a:r>
              <a:rPr sz="2800" b="1" spc="-10" dirty="0">
                <a:solidFill>
                  <a:srgbClr val="000000"/>
                </a:solidFill>
                <a:latin typeface="Times New Roman"/>
                <a:cs typeface="Times New Roman"/>
              </a:rPr>
              <a:t>ENGINEERING</a:t>
            </a:r>
            <a:endParaRPr sz="2800">
              <a:latin typeface="Times New Roman"/>
              <a:cs typeface="Times New Roman"/>
            </a:endParaRPr>
          </a:p>
          <a:p>
            <a:pPr marL="12700">
              <a:lnSpc>
                <a:spcPct val="100000"/>
              </a:lnSpc>
              <a:spcBef>
                <a:spcPts val="30"/>
              </a:spcBef>
            </a:pPr>
            <a:r>
              <a:rPr sz="2000" b="1" spc="-10" dirty="0">
                <a:solidFill>
                  <a:srgbClr val="000000"/>
                </a:solidFill>
                <a:latin typeface="Times New Roman"/>
                <a:cs typeface="Times New Roman"/>
              </a:rPr>
              <a:t>DEPARTMENT</a:t>
            </a:r>
            <a:r>
              <a:rPr sz="2000" b="1" spc="-40" dirty="0">
                <a:solidFill>
                  <a:srgbClr val="000000"/>
                </a:solidFill>
                <a:latin typeface="Times New Roman"/>
                <a:cs typeface="Times New Roman"/>
              </a:rPr>
              <a:t> </a:t>
            </a:r>
            <a:r>
              <a:rPr sz="2000" b="1" dirty="0">
                <a:solidFill>
                  <a:srgbClr val="000000"/>
                </a:solidFill>
                <a:latin typeface="Times New Roman"/>
                <a:cs typeface="Times New Roman"/>
              </a:rPr>
              <a:t>OF</a:t>
            </a:r>
            <a:r>
              <a:rPr sz="2000" b="1" spc="-50" dirty="0">
                <a:solidFill>
                  <a:srgbClr val="000000"/>
                </a:solidFill>
                <a:latin typeface="Times New Roman"/>
                <a:cs typeface="Times New Roman"/>
              </a:rPr>
              <a:t> </a:t>
            </a:r>
            <a:r>
              <a:rPr sz="2000" b="1" dirty="0">
                <a:solidFill>
                  <a:srgbClr val="000000"/>
                </a:solidFill>
                <a:latin typeface="Times New Roman"/>
                <a:cs typeface="Times New Roman"/>
              </a:rPr>
              <a:t>COMPUTER</a:t>
            </a:r>
            <a:r>
              <a:rPr sz="2000" b="1" spc="-45" dirty="0">
                <a:solidFill>
                  <a:srgbClr val="000000"/>
                </a:solidFill>
                <a:latin typeface="Times New Roman"/>
                <a:cs typeface="Times New Roman"/>
              </a:rPr>
              <a:t> </a:t>
            </a:r>
            <a:r>
              <a:rPr sz="2000" b="1" dirty="0">
                <a:solidFill>
                  <a:srgbClr val="000000"/>
                </a:solidFill>
                <a:latin typeface="Times New Roman"/>
                <a:cs typeface="Times New Roman"/>
              </a:rPr>
              <a:t>SCIENCE</a:t>
            </a:r>
            <a:r>
              <a:rPr sz="2000" b="1" spc="-50" dirty="0">
                <a:solidFill>
                  <a:srgbClr val="000000"/>
                </a:solidFill>
                <a:latin typeface="Times New Roman"/>
                <a:cs typeface="Times New Roman"/>
              </a:rPr>
              <a:t> </a:t>
            </a:r>
            <a:r>
              <a:rPr sz="2000" b="1" dirty="0">
                <a:solidFill>
                  <a:srgbClr val="000000"/>
                </a:solidFill>
                <a:latin typeface="Times New Roman"/>
                <a:cs typeface="Times New Roman"/>
              </a:rPr>
              <a:t>&amp;</a:t>
            </a:r>
            <a:r>
              <a:rPr sz="2000" b="1" spc="-45" dirty="0">
                <a:solidFill>
                  <a:srgbClr val="000000"/>
                </a:solidFill>
                <a:latin typeface="Times New Roman"/>
                <a:cs typeface="Times New Roman"/>
              </a:rPr>
              <a:t> </a:t>
            </a:r>
            <a:r>
              <a:rPr sz="2000" b="1" spc="-10" dirty="0">
                <a:solidFill>
                  <a:srgbClr val="000000"/>
                </a:solidFill>
                <a:latin typeface="Times New Roman"/>
                <a:cs typeface="Times New Roman"/>
              </a:rPr>
              <a:t>ENGINEERING</a:t>
            </a:r>
            <a:endParaRPr sz="20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635" y="325881"/>
            <a:ext cx="8902700" cy="4769896"/>
          </a:xfrm>
          <a:prstGeom prst="rect">
            <a:avLst/>
          </a:prstGeom>
        </p:spPr>
        <p:txBody>
          <a:bodyPr vert="horz" wrap="square" lIns="0" tIns="12065" rIns="0" bIns="0" rtlCol="0">
            <a:spAutoFit/>
          </a:bodyPr>
          <a:lstStyle/>
          <a:p>
            <a:pPr marL="2451735">
              <a:lnSpc>
                <a:spcPct val="100000"/>
              </a:lnSpc>
              <a:spcBef>
                <a:spcPts val="95"/>
              </a:spcBef>
            </a:pPr>
            <a:r>
              <a:rPr sz="2800" b="1" dirty="0">
                <a:latin typeface="Times New Roman"/>
                <a:cs typeface="Times New Roman"/>
              </a:rPr>
              <a:t>P.A.</a:t>
            </a:r>
            <a:r>
              <a:rPr sz="2800" b="1" spc="-55" dirty="0">
                <a:latin typeface="Times New Roman"/>
                <a:cs typeface="Times New Roman"/>
              </a:rPr>
              <a:t> </a:t>
            </a:r>
            <a:r>
              <a:rPr sz="2800" b="1" dirty="0">
                <a:latin typeface="Times New Roman"/>
                <a:cs typeface="Times New Roman"/>
              </a:rPr>
              <a:t>COLLEGE</a:t>
            </a:r>
            <a:r>
              <a:rPr sz="2800" b="1" spc="-40" dirty="0">
                <a:latin typeface="Times New Roman"/>
                <a:cs typeface="Times New Roman"/>
              </a:rPr>
              <a:t> </a:t>
            </a:r>
            <a:r>
              <a:rPr sz="2800" b="1" dirty="0">
                <a:latin typeface="Times New Roman"/>
                <a:cs typeface="Times New Roman"/>
              </a:rPr>
              <a:t>OF</a:t>
            </a:r>
            <a:r>
              <a:rPr sz="2800" b="1" spc="-55" dirty="0">
                <a:latin typeface="Times New Roman"/>
                <a:cs typeface="Times New Roman"/>
              </a:rPr>
              <a:t> </a:t>
            </a:r>
            <a:r>
              <a:rPr sz="2800" b="1" spc="-10" dirty="0">
                <a:latin typeface="Times New Roman"/>
                <a:cs typeface="Times New Roman"/>
              </a:rPr>
              <a:t>ENGINEERING</a:t>
            </a:r>
            <a:endParaRPr sz="2800" dirty="0">
              <a:latin typeface="Times New Roman"/>
              <a:cs typeface="Times New Roman"/>
            </a:endParaRPr>
          </a:p>
          <a:p>
            <a:pPr marL="1743075">
              <a:lnSpc>
                <a:spcPct val="100000"/>
              </a:lnSpc>
              <a:spcBef>
                <a:spcPts val="30"/>
              </a:spcBef>
            </a:pPr>
            <a:r>
              <a:rPr sz="2000" b="1" spc="-10" dirty="0">
                <a:latin typeface="Times New Roman"/>
                <a:cs typeface="Times New Roman"/>
              </a:rPr>
              <a:t>DEPARTMENT</a:t>
            </a:r>
            <a:r>
              <a:rPr sz="2000" b="1" spc="-40" dirty="0">
                <a:latin typeface="Times New Roman"/>
                <a:cs typeface="Times New Roman"/>
              </a:rPr>
              <a:t> </a:t>
            </a:r>
            <a:r>
              <a:rPr sz="2000" b="1" dirty="0">
                <a:latin typeface="Times New Roman"/>
                <a:cs typeface="Times New Roman"/>
              </a:rPr>
              <a:t>OF</a:t>
            </a:r>
            <a:r>
              <a:rPr sz="2000" b="1" spc="-50" dirty="0">
                <a:latin typeface="Times New Roman"/>
                <a:cs typeface="Times New Roman"/>
              </a:rPr>
              <a:t> </a:t>
            </a:r>
            <a:r>
              <a:rPr sz="2000" b="1" dirty="0">
                <a:latin typeface="Times New Roman"/>
                <a:cs typeface="Times New Roman"/>
              </a:rPr>
              <a:t>COMPUTER</a:t>
            </a:r>
            <a:r>
              <a:rPr sz="2000" b="1" spc="-45" dirty="0">
                <a:latin typeface="Times New Roman"/>
                <a:cs typeface="Times New Roman"/>
              </a:rPr>
              <a:t> </a:t>
            </a:r>
            <a:r>
              <a:rPr sz="2000" b="1" dirty="0">
                <a:latin typeface="Times New Roman"/>
                <a:cs typeface="Times New Roman"/>
              </a:rPr>
              <a:t>SCIENCE</a:t>
            </a:r>
            <a:r>
              <a:rPr sz="2000" b="1" spc="-50" dirty="0">
                <a:latin typeface="Times New Roman"/>
                <a:cs typeface="Times New Roman"/>
              </a:rPr>
              <a:t> </a:t>
            </a:r>
            <a:r>
              <a:rPr sz="2000" b="1" dirty="0">
                <a:latin typeface="Times New Roman"/>
                <a:cs typeface="Times New Roman"/>
              </a:rPr>
              <a:t>&amp;</a:t>
            </a:r>
            <a:r>
              <a:rPr sz="2000" b="1" spc="-45" dirty="0">
                <a:latin typeface="Times New Roman"/>
                <a:cs typeface="Times New Roman"/>
              </a:rPr>
              <a:t> </a:t>
            </a:r>
            <a:r>
              <a:rPr sz="2000" b="1" spc="-10" dirty="0">
                <a:latin typeface="Times New Roman"/>
                <a:cs typeface="Times New Roman"/>
              </a:rPr>
              <a:t>ENGINEERING</a:t>
            </a:r>
            <a:endParaRPr lang="en-IN" sz="2000" dirty="0">
              <a:latin typeface="Times New Roman"/>
              <a:cs typeface="Times New Roman"/>
            </a:endParaRPr>
          </a:p>
          <a:p>
            <a:pPr marL="3495040" algn="l">
              <a:lnSpc>
                <a:spcPct val="100000"/>
              </a:lnSpc>
              <a:spcBef>
                <a:spcPts val="5"/>
              </a:spcBef>
            </a:pPr>
            <a:endParaRPr lang="en-IN" sz="2000" dirty="0">
              <a:latin typeface="Times New Roman"/>
              <a:cs typeface="Times New Roman"/>
            </a:endParaRPr>
          </a:p>
          <a:p>
            <a:pPr marL="1743075" algn="ctr">
              <a:lnSpc>
                <a:spcPct val="100000"/>
              </a:lnSpc>
              <a:spcBef>
                <a:spcPts val="30"/>
              </a:spcBef>
            </a:pPr>
            <a:r>
              <a:rPr lang="en-IN" sz="3200" b="1" spc="-10" dirty="0">
                <a:solidFill>
                  <a:srgbClr val="2D5395"/>
                </a:solidFill>
                <a:latin typeface="Times New Roman"/>
                <a:cs typeface="Times New Roman"/>
              </a:rPr>
              <a:t>ABSTRACT</a:t>
            </a:r>
            <a:endParaRPr sz="3200" dirty="0">
              <a:latin typeface="Times New Roman"/>
              <a:cs typeface="Times New Roman"/>
            </a:endParaRPr>
          </a:p>
          <a:p>
            <a:pPr marL="228600" indent="-228600" algn="just">
              <a:lnSpc>
                <a:spcPct val="150000"/>
              </a:lnSpc>
              <a:buFont typeface="Arial"/>
              <a:buChar char="•"/>
            </a:pPr>
            <a:r>
              <a:rPr sz="1800">
                <a:latin typeface="Times New Roman"/>
              </a:rPr>
              <a:t>ICU deterioration is a leading cause of preventable in-hospital mortality; static scores like NEWS2 miss temporal trends.</a:t>
            </a:r>
          </a:p>
          <a:p>
            <a:pPr marL="228600" indent="-228600" algn="just">
              <a:lnSpc>
                <a:spcPct val="150000"/>
              </a:lnSpc>
              <a:buFont typeface="Arial"/>
              <a:buChar char="•"/>
            </a:pPr>
            <a:r>
              <a:rPr sz="1800">
                <a:latin typeface="Times New Roman"/>
              </a:rPr>
              <a:t>SynCura uses an attention-based LSTM on 12 features x 90-minute windows with FastAPI backend and React dashboard.</a:t>
            </a:r>
          </a:p>
          <a:p>
            <a:pPr marL="228600" indent="-228600" algn="just">
              <a:lnSpc>
                <a:spcPct val="150000"/>
              </a:lnSpc>
              <a:buFont typeface="Arial"/>
              <a:buChar char="•"/>
            </a:pPr>
            <a:r>
              <a:rPr sz="1800">
                <a:latin typeface="Times New Roman"/>
              </a:rPr>
              <a:t>Trained and evaluated on PhysioNet 2012 Challenge data with in-hospital mortality labels (4,000 stays).</a:t>
            </a:r>
          </a:p>
          <a:p>
            <a:pPr marL="228600" indent="-228600" algn="just">
              <a:lnSpc>
                <a:spcPct val="150000"/>
              </a:lnSpc>
              <a:buFont typeface="Arial"/>
              <a:buChar char="•"/>
            </a:pPr>
            <a:r>
              <a:rPr sz="1800">
                <a:latin typeface="Times New Roman"/>
              </a:rPr>
              <a:t>Deployed 3-model ensemble (e12+e13+c53): validation AUC 0.840, fresh unseen holdout AUC 0.834.</a:t>
            </a:r>
          </a:p>
          <a:p>
            <a:pPr marL="228600" indent="-228600" algn="just">
              <a:lnSpc>
                <a:spcPct val="150000"/>
              </a:lnSpc>
              <a:buFont typeface="Arial"/>
              <a:buChar char="•"/>
            </a:pPr>
            <a:r>
              <a:rPr sz="1800">
                <a:latin typeface="Times New Roman"/>
              </a:rPr>
              <a:t>Provides real-time risk scoring with SHAP and attention explainability; research prototype, not a medical device.</a:t>
            </a:r>
          </a:p>
        </p:txBody>
      </p:sp>
      <p:pic>
        <p:nvPicPr>
          <p:cNvPr id="3" name="object 3"/>
          <p:cNvPicPr/>
          <p:nvPr/>
        </p:nvPicPr>
        <p:blipFill>
          <a:blip r:embed="rId2" cstate="print"/>
          <a:stretch>
            <a:fillRect/>
          </a:stretch>
        </p:blipFill>
        <p:spPr>
          <a:xfrm>
            <a:off x="10866119" y="0"/>
            <a:ext cx="1325879" cy="1411224"/>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20" dirty="0"/>
              <a:t>DEPT.</a:t>
            </a:r>
            <a:r>
              <a:rPr spc="-35" dirty="0"/>
              <a:t> </a:t>
            </a:r>
            <a:r>
              <a:rPr dirty="0"/>
              <a:t>OF</a:t>
            </a:r>
            <a:r>
              <a:rPr spc="-45" dirty="0"/>
              <a:t> </a:t>
            </a:r>
            <a:r>
              <a:rPr spc="-25" dirty="0"/>
              <a:t>CSE</a:t>
            </a:r>
          </a:p>
        </p:txBody>
      </p:sp>
      <p:sp>
        <p:nvSpPr>
          <p:cNvPr id="5" name="object 5"/>
          <p:cNvSpPr txBox="1">
            <a:spLocks noGrp="1"/>
          </p:cNvSpPr>
          <p:nvPr>
            <p:ph type="dt" sz="half" idx="6"/>
          </p:nvPr>
        </p:nvSpPr>
        <p:spPr>
          <a:xfrm>
            <a:off x="5830570" y="6390368"/>
            <a:ext cx="522604" cy="179536"/>
          </a:xfrm>
          <a:prstGeom prst="rect">
            <a:avLst/>
          </a:prstGeom>
        </p:spPr>
        <p:txBody>
          <a:bodyPr vert="horz" wrap="square" lIns="0" tIns="0" rIns="0" bIns="0" rtlCol="0">
            <a:spAutoFit/>
          </a:bodyPr>
          <a:lstStyle/>
          <a:p>
            <a:pPr marL="12700">
              <a:lnSpc>
                <a:spcPts val="1410"/>
              </a:lnSpc>
            </a:pPr>
            <a:r>
              <a:rPr spc="-25" dirty="0"/>
              <a:t>202</a:t>
            </a:r>
            <a:r>
              <a:rPr lang="en-IN" spc="-25" dirty="0"/>
              <a:t>6</a:t>
            </a:r>
            <a:r>
              <a:rPr spc="-25" dirty="0"/>
              <a:t>-2</a:t>
            </a:r>
            <a:r>
              <a:rPr lang="en-IN" spc="-25" dirty="0"/>
              <a:t>7</a:t>
            </a:r>
            <a:endParaRPr spc="-25"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r>
              <a:rPr spc="-50" dirty="0"/>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635" y="325881"/>
            <a:ext cx="8902700" cy="5316855"/>
          </a:xfrm>
          <a:prstGeom prst="rect">
            <a:avLst/>
          </a:prstGeom>
        </p:spPr>
        <p:txBody>
          <a:bodyPr vert="horz" wrap="square" lIns="0" tIns="12065" rIns="0" bIns="0" rtlCol="0">
            <a:spAutoFit/>
          </a:bodyPr>
          <a:lstStyle/>
          <a:p>
            <a:pPr marL="2451735">
              <a:lnSpc>
                <a:spcPct val="100000"/>
              </a:lnSpc>
              <a:spcBef>
                <a:spcPts val="95"/>
              </a:spcBef>
            </a:pPr>
            <a:r>
              <a:rPr sz="2800" b="1" dirty="0">
                <a:latin typeface="Times New Roman"/>
                <a:cs typeface="Times New Roman"/>
              </a:rPr>
              <a:t>P.A.</a:t>
            </a:r>
            <a:r>
              <a:rPr sz="2800" b="1" spc="-55" dirty="0">
                <a:latin typeface="Times New Roman"/>
                <a:cs typeface="Times New Roman"/>
              </a:rPr>
              <a:t> </a:t>
            </a:r>
            <a:r>
              <a:rPr sz="2800" b="1" dirty="0">
                <a:latin typeface="Times New Roman"/>
                <a:cs typeface="Times New Roman"/>
              </a:rPr>
              <a:t>COLLEGE</a:t>
            </a:r>
            <a:r>
              <a:rPr sz="2800" b="1" spc="-40" dirty="0">
                <a:latin typeface="Times New Roman"/>
                <a:cs typeface="Times New Roman"/>
              </a:rPr>
              <a:t> </a:t>
            </a:r>
            <a:r>
              <a:rPr sz="2800" b="1" dirty="0">
                <a:latin typeface="Times New Roman"/>
                <a:cs typeface="Times New Roman"/>
              </a:rPr>
              <a:t>OF</a:t>
            </a:r>
            <a:r>
              <a:rPr sz="2800" b="1" spc="-55" dirty="0">
                <a:latin typeface="Times New Roman"/>
                <a:cs typeface="Times New Roman"/>
              </a:rPr>
              <a:t> </a:t>
            </a:r>
            <a:r>
              <a:rPr sz="2800" b="1" spc="-10" dirty="0">
                <a:latin typeface="Times New Roman"/>
                <a:cs typeface="Times New Roman"/>
              </a:rPr>
              <a:t>ENGINEERING</a:t>
            </a:r>
            <a:endParaRPr sz="2800" dirty="0">
              <a:latin typeface="Times New Roman"/>
              <a:cs typeface="Times New Roman"/>
            </a:endParaRPr>
          </a:p>
          <a:p>
            <a:pPr marL="1743075">
              <a:lnSpc>
                <a:spcPct val="100000"/>
              </a:lnSpc>
              <a:spcBef>
                <a:spcPts val="30"/>
              </a:spcBef>
            </a:pPr>
            <a:r>
              <a:rPr sz="2000" b="1" spc="-10" dirty="0">
                <a:latin typeface="Times New Roman"/>
                <a:cs typeface="Times New Roman"/>
              </a:rPr>
              <a:t>DEPARTMENT</a:t>
            </a:r>
            <a:r>
              <a:rPr sz="2000" b="1" spc="-40" dirty="0">
                <a:latin typeface="Times New Roman"/>
                <a:cs typeface="Times New Roman"/>
              </a:rPr>
              <a:t> </a:t>
            </a:r>
            <a:r>
              <a:rPr sz="2000" b="1" dirty="0">
                <a:latin typeface="Times New Roman"/>
                <a:cs typeface="Times New Roman"/>
              </a:rPr>
              <a:t>OF</a:t>
            </a:r>
            <a:r>
              <a:rPr sz="2000" b="1" spc="-50" dirty="0">
                <a:latin typeface="Times New Roman"/>
                <a:cs typeface="Times New Roman"/>
              </a:rPr>
              <a:t> </a:t>
            </a:r>
            <a:r>
              <a:rPr sz="2000" b="1" dirty="0">
                <a:latin typeface="Times New Roman"/>
                <a:cs typeface="Times New Roman"/>
              </a:rPr>
              <a:t>COMPUTER</a:t>
            </a:r>
            <a:r>
              <a:rPr sz="2000" b="1" spc="-45" dirty="0">
                <a:latin typeface="Times New Roman"/>
                <a:cs typeface="Times New Roman"/>
              </a:rPr>
              <a:t> </a:t>
            </a:r>
            <a:r>
              <a:rPr sz="2000" b="1" dirty="0">
                <a:latin typeface="Times New Roman"/>
                <a:cs typeface="Times New Roman"/>
              </a:rPr>
              <a:t>SCIENCE</a:t>
            </a:r>
            <a:r>
              <a:rPr sz="2000" b="1" spc="-50" dirty="0">
                <a:latin typeface="Times New Roman"/>
                <a:cs typeface="Times New Roman"/>
              </a:rPr>
              <a:t> </a:t>
            </a:r>
            <a:r>
              <a:rPr sz="2000" b="1" dirty="0">
                <a:latin typeface="Times New Roman"/>
                <a:cs typeface="Times New Roman"/>
              </a:rPr>
              <a:t>&amp;</a:t>
            </a:r>
            <a:r>
              <a:rPr sz="2000" b="1" spc="-45" dirty="0">
                <a:latin typeface="Times New Roman"/>
                <a:cs typeface="Times New Roman"/>
              </a:rPr>
              <a:t> </a:t>
            </a:r>
            <a:r>
              <a:rPr sz="2000" b="1" spc="-10" dirty="0">
                <a:latin typeface="Times New Roman"/>
                <a:cs typeface="Times New Roman"/>
              </a:rPr>
              <a:t>ENGINEERING</a:t>
            </a:r>
            <a:endParaRPr sz="2000" dirty="0">
              <a:latin typeface="Times New Roman"/>
              <a:cs typeface="Times New Roman"/>
            </a:endParaRPr>
          </a:p>
          <a:p>
            <a:pPr>
              <a:lnSpc>
                <a:spcPct val="100000"/>
              </a:lnSpc>
              <a:spcBef>
                <a:spcPts val="1880"/>
              </a:spcBef>
            </a:pPr>
            <a:endParaRPr sz="2000" dirty="0">
              <a:latin typeface="Times New Roman"/>
              <a:cs typeface="Times New Roman"/>
            </a:endParaRPr>
          </a:p>
          <a:p>
            <a:pPr marL="3549650">
              <a:lnSpc>
                <a:spcPct val="100000"/>
              </a:lnSpc>
              <a:spcBef>
                <a:spcPts val="5"/>
              </a:spcBef>
            </a:pPr>
            <a:r>
              <a:rPr sz="3200" b="1" spc="-10" dirty="0">
                <a:solidFill>
                  <a:srgbClr val="2D5395"/>
                </a:solidFill>
                <a:latin typeface="Times New Roman"/>
                <a:cs typeface="Times New Roman"/>
              </a:rPr>
              <a:t>INTRODUCTION</a:t>
            </a:r>
            <a:endParaRPr sz="3200" dirty="0">
              <a:latin typeface="Times New Roman"/>
              <a:cs typeface="Times New Roman"/>
            </a:endParaRPr>
          </a:p>
          <a:p>
            <a:pPr marL="228600" indent="-228600" algn="just">
              <a:lnSpc>
                <a:spcPct val="150000"/>
              </a:lnSpc>
              <a:buFont typeface="Arial"/>
              <a:buChar char="•"/>
            </a:pPr>
            <a:r>
              <a:rPr sz="1800">
                <a:latin typeface="Times New Roman"/>
              </a:rPr>
              <a:t>ICU mortality ranges 10-29%; early detection of deterioration significantly improves outcomes.</a:t>
            </a:r>
          </a:p>
          <a:p>
            <a:pPr marL="228600" indent="-228600" algn="just">
              <a:lnSpc>
                <a:spcPct val="150000"/>
              </a:lnSpc>
              <a:buFont typeface="Arial"/>
              <a:buChar char="•"/>
            </a:pPr>
            <a:r>
              <a:rPr sz="1800">
                <a:latin typeface="Times New Roman"/>
              </a:rPr>
              <a:t>Current practice relies on NEWS2, SOFA and APACHE-II with static thresholds and manual calculation.</a:t>
            </a:r>
          </a:p>
          <a:p>
            <a:pPr marL="228600" indent="-228600" algn="just">
              <a:lnSpc>
                <a:spcPct val="150000"/>
              </a:lnSpc>
              <a:buFont typeface="Arial"/>
              <a:buChar char="•"/>
            </a:pPr>
            <a:r>
              <a:rPr sz="1800">
                <a:latin typeface="Times New Roman"/>
              </a:rPr>
              <a:t>These scores fail to capture temporal trends and have limited sensitivity for early warning.</a:t>
            </a:r>
          </a:p>
          <a:p>
            <a:pPr marL="228600" indent="-228600" algn="just">
              <a:lnSpc>
                <a:spcPct val="150000"/>
              </a:lnSpc>
              <a:buFont typeface="Arial"/>
              <a:buChar char="•"/>
            </a:pPr>
            <a:r>
              <a:rPr sz="1800">
                <a:latin typeface="Times New Roman"/>
              </a:rPr>
              <a:t>Objective 1-2: build attention-LSTM mortality-risk model with full-stack FastAPI and React system.</a:t>
            </a:r>
          </a:p>
          <a:p>
            <a:pPr marL="228600" indent="-228600" algn="just">
              <a:lnSpc>
                <a:spcPct val="150000"/>
              </a:lnSpc>
              <a:buFont typeface="Arial"/>
              <a:buChar char="•"/>
            </a:pPr>
            <a:r>
              <a:rPr sz="1800">
                <a:latin typeface="Times New Roman"/>
              </a:rPr>
              <a:t>Objective 3-5: add SHAP + attention explainability, compare against NEWS2, enable scenario simulation.</a:t>
            </a:r>
          </a:p>
        </p:txBody>
      </p:sp>
      <p:pic>
        <p:nvPicPr>
          <p:cNvPr id="3" name="object 3"/>
          <p:cNvPicPr/>
          <p:nvPr/>
        </p:nvPicPr>
        <p:blipFill>
          <a:blip r:embed="rId2" cstate="print"/>
          <a:stretch>
            <a:fillRect/>
          </a:stretch>
        </p:blipFill>
        <p:spPr>
          <a:xfrm>
            <a:off x="10866119" y="0"/>
            <a:ext cx="1325879" cy="1411224"/>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20" dirty="0"/>
              <a:t>DEPT.</a:t>
            </a:r>
            <a:r>
              <a:rPr spc="-35" dirty="0"/>
              <a:t> </a:t>
            </a:r>
            <a:r>
              <a:rPr dirty="0"/>
              <a:t>OF</a:t>
            </a:r>
            <a:r>
              <a:rPr spc="-45" dirty="0"/>
              <a:t> </a:t>
            </a:r>
            <a:r>
              <a:rPr spc="-25" dirty="0"/>
              <a:t>CSE</a:t>
            </a:r>
          </a:p>
        </p:txBody>
      </p:sp>
      <p:sp>
        <p:nvSpPr>
          <p:cNvPr id="5" name="object 5"/>
          <p:cNvSpPr txBox="1">
            <a:spLocks noGrp="1"/>
          </p:cNvSpPr>
          <p:nvPr>
            <p:ph type="dt" sz="half" idx="6"/>
          </p:nvPr>
        </p:nvSpPr>
        <p:spPr>
          <a:xfrm>
            <a:off x="5830570" y="6390368"/>
            <a:ext cx="522604" cy="179536"/>
          </a:xfrm>
          <a:prstGeom prst="rect">
            <a:avLst/>
          </a:prstGeom>
        </p:spPr>
        <p:txBody>
          <a:bodyPr vert="horz" wrap="square" lIns="0" tIns="0" rIns="0" bIns="0" rtlCol="0">
            <a:spAutoFit/>
          </a:bodyPr>
          <a:lstStyle/>
          <a:p>
            <a:pPr marL="12700">
              <a:lnSpc>
                <a:spcPts val="1410"/>
              </a:lnSpc>
            </a:pPr>
            <a:r>
              <a:rPr spc="-25" dirty="0"/>
              <a:t>202</a:t>
            </a:r>
            <a:r>
              <a:rPr lang="en-IN" spc="-25" dirty="0"/>
              <a:t>6</a:t>
            </a:r>
            <a:r>
              <a:rPr spc="-25" dirty="0"/>
              <a:t>-2</a:t>
            </a:r>
            <a:r>
              <a:rPr lang="en-IN" spc="-25" dirty="0"/>
              <a:t>7</a:t>
            </a:r>
            <a:endParaRPr spc="-25" dirty="0"/>
          </a:p>
        </p:txBody>
      </p:sp>
      <p:sp>
        <p:nvSpPr>
          <p:cNvPr id="6" name="object 6"/>
          <p:cNvSpPr txBox="1">
            <a:spLocks noGrp="1"/>
          </p:cNvSpPr>
          <p:nvPr>
            <p:ph type="sldNum" sz="quarter" idx="7"/>
          </p:nvPr>
        </p:nvSpPr>
        <p:spPr>
          <a:xfrm>
            <a:off x="11062716" y="6389149"/>
            <a:ext cx="253491" cy="179536"/>
          </a:xfrm>
          <a:prstGeom prst="rect">
            <a:avLst/>
          </a:prstGeom>
        </p:spPr>
        <p:txBody>
          <a:bodyPr vert="horz" wrap="square" lIns="0" tIns="0" rIns="0" bIns="0" rtlCol="0">
            <a:spAutoFit/>
          </a:bodyPr>
          <a:lstStyle/>
          <a:p>
            <a:pPr marL="126364">
              <a:lnSpc>
                <a:spcPts val="1410"/>
              </a:lnSpc>
            </a:pPr>
            <a:r>
              <a:rPr lang="en-IN" spc="-50" dirty="0"/>
              <a:t>2</a:t>
            </a:r>
            <a:endParaRPr spc="-50" dirty="0"/>
          </a:p>
        </p:txBody>
      </p:sp>
    </p:spTree>
    <p:extLst>
      <p:ext uri="{BB962C8B-B14F-4D97-AF65-F5344CB8AC3E}">
        <p14:creationId xmlns:p14="http://schemas.microsoft.com/office/powerpoint/2010/main" val="1107851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634" y="325881"/>
            <a:ext cx="9827565" cy="5116144"/>
          </a:xfrm>
          <a:prstGeom prst="rect">
            <a:avLst/>
          </a:prstGeom>
        </p:spPr>
        <p:txBody>
          <a:bodyPr vert="horz" wrap="square" lIns="0" tIns="12065" rIns="0" bIns="0" rtlCol="0">
            <a:spAutoFit/>
          </a:bodyPr>
          <a:lstStyle/>
          <a:p>
            <a:pPr marL="2451735">
              <a:lnSpc>
                <a:spcPct val="100000"/>
              </a:lnSpc>
              <a:spcBef>
                <a:spcPts val="95"/>
              </a:spcBef>
            </a:pPr>
            <a:r>
              <a:rPr sz="2800" b="1" dirty="0">
                <a:latin typeface="Times New Roman"/>
                <a:cs typeface="Times New Roman"/>
              </a:rPr>
              <a:t>P.A.</a:t>
            </a:r>
            <a:r>
              <a:rPr sz="2800" b="1" spc="-55" dirty="0">
                <a:latin typeface="Times New Roman"/>
                <a:cs typeface="Times New Roman"/>
              </a:rPr>
              <a:t> </a:t>
            </a:r>
            <a:r>
              <a:rPr sz="2800" b="1" dirty="0">
                <a:latin typeface="Times New Roman"/>
                <a:cs typeface="Times New Roman"/>
              </a:rPr>
              <a:t>COLLEGE</a:t>
            </a:r>
            <a:r>
              <a:rPr sz="2800" b="1" spc="-40" dirty="0">
                <a:latin typeface="Times New Roman"/>
                <a:cs typeface="Times New Roman"/>
              </a:rPr>
              <a:t> </a:t>
            </a:r>
            <a:r>
              <a:rPr sz="2800" b="1" dirty="0">
                <a:latin typeface="Times New Roman"/>
                <a:cs typeface="Times New Roman"/>
              </a:rPr>
              <a:t>OF</a:t>
            </a:r>
            <a:r>
              <a:rPr sz="2800" b="1" spc="-55" dirty="0">
                <a:latin typeface="Times New Roman"/>
                <a:cs typeface="Times New Roman"/>
              </a:rPr>
              <a:t> </a:t>
            </a:r>
            <a:r>
              <a:rPr sz="2800" b="1" spc="-10" dirty="0">
                <a:latin typeface="Times New Roman"/>
                <a:cs typeface="Times New Roman"/>
              </a:rPr>
              <a:t>ENGINEERING</a:t>
            </a:r>
            <a:endParaRPr sz="2800" dirty="0">
              <a:latin typeface="Times New Roman"/>
              <a:cs typeface="Times New Roman"/>
            </a:endParaRPr>
          </a:p>
          <a:p>
            <a:pPr marL="1743075">
              <a:lnSpc>
                <a:spcPct val="100000"/>
              </a:lnSpc>
              <a:spcBef>
                <a:spcPts val="30"/>
              </a:spcBef>
            </a:pPr>
            <a:r>
              <a:rPr sz="2000" b="1" spc="-10" dirty="0">
                <a:latin typeface="Times New Roman"/>
                <a:cs typeface="Times New Roman"/>
              </a:rPr>
              <a:t>DEPARTMENT</a:t>
            </a:r>
            <a:r>
              <a:rPr sz="2000" b="1" spc="-40" dirty="0">
                <a:latin typeface="Times New Roman"/>
                <a:cs typeface="Times New Roman"/>
              </a:rPr>
              <a:t> </a:t>
            </a:r>
            <a:r>
              <a:rPr sz="2000" b="1" dirty="0">
                <a:latin typeface="Times New Roman"/>
                <a:cs typeface="Times New Roman"/>
              </a:rPr>
              <a:t>OF</a:t>
            </a:r>
            <a:r>
              <a:rPr sz="2000" b="1" spc="-50" dirty="0">
                <a:latin typeface="Times New Roman"/>
                <a:cs typeface="Times New Roman"/>
              </a:rPr>
              <a:t> </a:t>
            </a:r>
            <a:r>
              <a:rPr sz="2000" b="1" dirty="0">
                <a:latin typeface="Times New Roman"/>
                <a:cs typeface="Times New Roman"/>
              </a:rPr>
              <a:t>COMPUTER</a:t>
            </a:r>
            <a:r>
              <a:rPr sz="2000" b="1" spc="-45" dirty="0">
                <a:latin typeface="Times New Roman"/>
                <a:cs typeface="Times New Roman"/>
              </a:rPr>
              <a:t> </a:t>
            </a:r>
            <a:r>
              <a:rPr sz="2000" b="1" dirty="0">
                <a:latin typeface="Times New Roman"/>
                <a:cs typeface="Times New Roman"/>
              </a:rPr>
              <a:t>SCIENCE</a:t>
            </a:r>
            <a:r>
              <a:rPr sz="2000" b="1" spc="-50" dirty="0">
                <a:latin typeface="Times New Roman"/>
                <a:cs typeface="Times New Roman"/>
              </a:rPr>
              <a:t> </a:t>
            </a:r>
            <a:r>
              <a:rPr sz="2000" b="1" dirty="0">
                <a:latin typeface="Times New Roman"/>
                <a:cs typeface="Times New Roman"/>
              </a:rPr>
              <a:t>&amp;</a:t>
            </a:r>
            <a:r>
              <a:rPr sz="2000" b="1" spc="-45" dirty="0">
                <a:latin typeface="Times New Roman"/>
                <a:cs typeface="Times New Roman"/>
              </a:rPr>
              <a:t> </a:t>
            </a:r>
            <a:r>
              <a:rPr sz="2000" b="1" spc="-10" dirty="0">
                <a:latin typeface="Times New Roman"/>
                <a:cs typeface="Times New Roman"/>
              </a:rPr>
              <a:t>ENGINEERING</a:t>
            </a:r>
            <a:endParaRPr sz="2000" dirty="0">
              <a:latin typeface="Times New Roman"/>
              <a:cs typeface="Times New Roman"/>
            </a:endParaRPr>
          </a:p>
          <a:p>
            <a:pPr marL="3495040" algn="l">
              <a:lnSpc>
                <a:spcPct val="100000"/>
              </a:lnSpc>
              <a:spcBef>
                <a:spcPts val="5"/>
              </a:spcBef>
            </a:pPr>
            <a:endParaRPr sz="900" dirty="0">
              <a:latin typeface="Times New Roman"/>
              <a:cs typeface="Times New Roman"/>
            </a:endParaRPr>
          </a:p>
          <a:p>
            <a:pPr marL="3495040" algn="l">
              <a:lnSpc>
                <a:spcPct val="100000"/>
              </a:lnSpc>
              <a:spcBef>
                <a:spcPts val="5"/>
              </a:spcBef>
            </a:pPr>
            <a:r>
              <a:rPr lang="en-IN" sz="3200" b="1" spc="-10" dirty="0">
                <a:solidFill>
                  <a:srgbClr val="2D5395"/>
                </a:solidFill>
                <a:latin typeface="Times New Roman"/>
                <a:cs typeface="Times New Roman"/>
              </a:rPr>
              <a:t>LITERATURE SURVEY</a:t>
            </a:r>
            <a:endParaRPr sz="3200" dirty="0">
              <a:latin typeface="Times New Roman"/>
              <a:cs typeface="Times New Roman"/>
            </a:endParaRPr>
          </a:p>
        </p:txBody>
      </p:sp>
      <p:graphicFrame>
        <p:nvGraphicFramePr>
          <p:cNvPr id="7" name="Table 1"/>
          <p:cNvGraphicFramePr>
            <a:graphicFrameLocks noGrp="1"/>
          </p:cNvGraphicFramePr>
          <p:nvPr/>
        </p:nvGraphicFramePr>
        <p:xfrm>
          <a:off x="916634" y="1750000"/>
          <a:ext cx="9827565" cy="4530000"/>
        </p:xfrm>
        <a:graphic>
          <a:graphicData uri="http://schemas.openxmlformats.org/drawingml/2006/table">
            <a:tbl>
              <a:tblPr firstRow="1" bandRow="1">
                <a:tableStyleId>{5C22544A-7EE6-4342-B048-85BDC9FD1C3A}</a:tableStyleId>
              </a:tblPr>
              <a:tblGrid>
                <a:gridCol w="2900000"/>
                <a:gridCol w="850000"/>
                <a:gridCol w="500000"/>
                <a:gridCol w="1950000"/>
                <a:gridCol w="3627565"/>
              </a:tblGrid>
              <a:tr h="290000">
                <a:tc>
                  <a:txBody>
                    <a:bodyPr/>
                    <a:lstStyle/>
                    <a:p>
                      <a:pPr algn="ctr">
                        <a:lnSpc>
                          <a:spcPct val="95000"/>
                        </a:lnSpc>
                      </a:pPr>
                      <a:r>
                        <a:rPr b="1" dirty="0" sz="1350">
                          <a:solidFill>
                            <a:srgbClr val="FFFFFF"/>
                          </a:solidFill>
                          <a:latin typeface="Times New Roman"/>
                          <a:cs typeface="Times New Roman"/>
                        </a:rPr>
                        <a:t>Title</a:t>
                      </a:r>
                      <a:endParaRPr lang="en-IN" dirty="0" sz="1350">
                        <a:latin typeface="Times New Roman"/>
                        <a:cs typeface="Times New Roman"/>
                      </a:endParaRPr>
                    </a:p>
                  </a:txBody>
                  <a:tcPr anchor="ctr" marL="45720" marR="45720" marT="4572" marB="4572">
                    <a:solidFill>
                      <a:srgbClr val="2D5395"/>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ctr">
                        <a:lnSpc>
                          <a:spcPct val="95000"/>
                        </a:lnSpc>
                      </a:pPr>
                      <a:r>
                        <a:rPr b="1" dirty="0" sz="1350">
                          <a:solidFill>
                            <a:srgbClr val="FFFFFF"/>
                          </a:solidFill>
                          <a:latin typeface="Times New Roman"/>
                          <a:cs typeface="Times New Roman"/>
                        </a:rPr>
                        <a:t>Author Names</a:t>
                      </a:r>
                      <a:endParaRPr lang="en-IN" dirty="0" sz="1350">
                        <a:latin typeface="Times New Roman"/>
                        <a:cs typeface="Times New Roman"/>
                      </a:endParaRPr>
                    </a:p>
                  </a:txBody>
                  <a:tcPr anchor="ctr" marL="45720" marR="45720" marT="4572" marB="4572">
                    <a:solidFill>
                      <a:srgbClr val="2D5395"/>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ctr">
                        <a:lnSpc>
                          <a:spcPct val="95000"/>
                        </a:lnSpc>
                      </a:pPr>
                      <a:r>
                        <a:rPr b="1" dirty="0" sz="1350">
                          <a:solidFill>
                            <a:srgbClr val="FFFFFF"/>
                          </a:solidFill>
                          <a:latin typeface="Times New Roman"/>
                          <a:cs typeface="Times New Roman"/>
                        </a:rPr>
                        <a:t>Year</a:t>
                      </a:r>
                      <a:endParaRPr lang="en-IN" dirty="0" sz="1350">
                        <a:latin typeface="Times New Roman"/>
                        <a:cs typeface="Times New Roman"/>
                      </a:endParaRPr>
                    </a:p>
                  </a:txBody>
                  <a:tcPr anchor="ctr" marL="45720" marR="45720" marT="4572" marB="4572">
                    <a:solidFill>
                      <a:srgbClr val="2D5395"/>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ctr">
                        <a:lnSpc>
                          <a:spcPct val="95000"/>
                        </a:lnSpc>
                      </a:pPr>
                      <a:r>
                        <a:rPr b="1" dirty="0" sz="1350">
                          <a:solidFill>
                            <a:srgbClr val="FFFFFF"/>
                          </a:solidFill>
                          <a:latin typeface="Times New Roman"/>
                          <a:cs typeface="Times New Roman"/>
                        </a:rPr>
                        <a:t>Features</a:t>
                      </a:r>
                      <a:endParaRPr lang="en-IN" dirty="0" sz="1350">
                        <a:latin typeface="Times New Roman"/>
                        <a:cs typeface="Times New Roman"/>
                      </a:endParaRPr>
                    </a:p>
                  </a:txBody>
                  <a:tcPr anchor="ctr" marL="45720" marR="45720" marT="4572" marB="4572">
                    <a:solidFill>
                      <a:srgbClr val="2D5395"/>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ctr">
                        <a:lnSpc>
                          <a:spcPct val="95000"/>
                        </a:lnSpc>
                      </a:pPr>
                      <a:r>
                        <a:rPr b="1" dirty="0" sz="1350">
                          <a:solidFill>
                            <a:srgbClr val="FFFFFF"/>
                          </a:solidFill>
                          <a:latin typeface="Times New Roman"/>
                          <a:cs typeface="Times New Roman"/>
                        </a:rPr>
                        <a:t>Limitations</a:t>
                      </a:r>
                      <a:endParaRPr lang="en-IN" dirty="0" sz="1350">
                        <a:latin typeface="Times New Roman"/>
                        <a:cs typeface="Times New Roman"/>
                      </a:endParaRPr>
                    </a:p>
                  </a:txBody>
                  <a:tcPr anchor="ctr" marL="45720" marR="45720" marT="4572" marB="4572">
                    <a:solidFill>
                      <a:srgbClr val="2D5395"/>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r>
              <a:tr h="424000">
                <a:tc>
                  <a:txBody>
                    <a:bodyPr/>
                    <a:lstStyle/>
                    <a:p>
                      <a:pPr algn="l" marL="54864" marR="36576">
                        <a:lnSpc>
                          <a:spcPct val="95000"/>
                        </a:lnSpc>
                      </a:pPr>
                      <a:r>
                        <a:rPr b="1" dirty="0" sz="1250">
                          <a:solidFill>
                            <a:srgbClr val="222222"/>
                          </a:solidFill>
                          <a:latin typeface="Times New Roman"/>
                          <a:cs typeface="Times New Roman"/>
                        </a:rPr>
                        <a:t>Dynamic real-time ICU risk, longitudinal irregular data</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Zheng Z et al.</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ctr">
                        <a:lnSpc>
                          <a:spcPct val="95000"/>
                        </a:lnSpc>
                      </a:pPr>
                      <a:r>
                        <a:rPr b="1" dirty="0" sz="1250">
                          <a:solidFill>
                            <a:srgbClr val="222222"/>
                          </a:solidFill>
                          <a:latin typeface="Times New Roman"/>
                          <a:cs typeface="Times New Roman"/>
                        </a:rPr>
                        <a:t>2025</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Vitals, labs, meds (EMR)</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Retrospective; inflates near discharge; cross-hospital drop</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r>
              <a:tr h="424000">
                <a:tc>
                  <a:txBody>
                    <a:bodyPr/>
                    <a:lstStyle/>
                    <a:p>
                      <a:pPr algn="l" marL="54864" marR="36576">
                        <a:lnSpc>
                          <a:spcPct val="95000"/>
                        </a:lnSpc>
                      </a:pPr>
                      <a:r>
                        <a:rPr b="1" dirty="0" sz="1250">
                          <a:solidFill>
                            <a:srgbClr val="222222"/>
                          </a:solidFill>
                          <a:latin typeface="Times New Roman"/>
                          <a:cs typeface="Times New Roman"/>
                        </a:rPr>
                        <a:t>DL in-hospital mortality, long-term sequential ICU data</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Yan Z et al.</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ctr">
                        <a:lnSpc>
                          <a:spcPct val="95000"/>
                        </a:lnSpc>
                      </a:pPr>
                      <a:r>
                        <a:rPr b="1" dirty="0" sz="1250">
                          <a:solidFill>
                            <a:srgbClr val="222222"/>
                          </a:solidFill>
                          <a:latin typeface="Times New Roman"/>
                          <a:cs typeface="Times New Roman"/>
                        </a:rPr>
                        <a:t>2026</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ICD sequences + temporal clinical data</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Modest AUC; stacking complexity; external &lt; internal</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r>
              <a:tr h="424000">
                <a:tc>
                  <a:txBody>
                    <a:bodyPr/>
                    <a:lstStyle/>
                    <a:p>
                      <a:pPr algn="l" marL="54864" marR="36576">
                        <a:lnSpc>
                          <a:spcPct val="95000"/>
                        </a:lnSpc>
                      </a:pPr>
                      <a:r>
                        <a:rPr b="1" dirty="0" sz="1250">
                          <a:solidFill>
                            <a:srgbClr val="222222"/>
                          </a:solidFill>
                          <a:latin typeface="Times New Roman"/>
                          <a:cs typeface="Times New Roman"/>
                        </a:rPr>
                        <a:t>Multimodal ICU deterioration (time-series + notes)</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Sadanandan B</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ctr">
                        <a:lnSpc>
                          <a:spcPct val="95000"/>
                        </a:lnSpc>
                      </a:pPr>
                      <a:r>
                        <a:rPr b="1" dirty="0" sz="1250">
                          <a:solidFill>
                            <a:srgbClr val="222222"/>
                          </a:solidFill>
                          <a:latin typeface="Times New Roman"/>
                          <a:cs typeface="Times New Roman"/>
                        </a:rPr>
                        <a:t>2026</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Physio time-series + ClinicalBERT notes</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Privacy/compute/delay; low AUPRC; untested live</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r>
              <a:tr h="424000">
                <a:tc>
                  <a:txBody>
                    <a:bodyPr/>
                    <a:lstStyle/>
                    <a:p>
                      <a:pPr algn="l" marL="54864" marR="36576">
                        <a:lnSpc>
                          <a:spcPct val="95000"/>
                        </a:lnSpc>
                      </a:pPr>
                      <a:r>
                        <a:rPr b="1" dirty="0" sz="1250">
                          <a:solidFill>
                            <a:srgbClr val="222222"/>
                          </a:solidFill>
                          <a:latin typeface="Times New Roman"/>
                          <a:cs typeface="Times New Roman"/>
                        </a:rPr>
                        <a:t>Vital signs for real-time ICU mortality risk</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Wu Y et al.</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ctr">
                        <a:lnSpc>
                          <a:spcPct val="95000"/>
                        </a:lnSpc>
                      </a:pPr>
                      <a:r>
                        <a:rPr b="1" dirty="0" sz="1250">
                          <a:solidFill>
                            <a:srgbClr val="222222"/>
                          </a:solidFill>
                          <a:latin typeface="Times New Roman"/>
                          <a:cs typeface="Times New Roman"/>
                        </a:rPr>
                        <a:t>2024</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BP, HR, RR, Temp (vitals only)</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Diff cohort; limited explanation; no deployment</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r>
              <a:tr h="424000">
                <a:tc>
                  <a:txBody>
                    <a:bodyPr/>
                    <a:lstStyle/>
                    <a:p>
                      <a:pPr algn="l" marL="54864" marR="36576">
                        <a:lnSpc>
                          <a:spcPct val="95000"/>
                        </a:lnSpc>
                      </a:pPr>
                      <a:r>
                        <a:rPr b="1" dirty="0" sz="1250">
                          <a:solidFill>
                            <a:srgbClr val="222222"/>
                          </a:solidFill>
                          <a:latin typeface="Times New Roman"/>
                          <a:cs typeface="Times New Roman"/>
                        </a:rPr>
                        <a:t>Deep learning to attend to risk in ICU</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Nguyen M et al.</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ctr">
                        <a:lnSpc>
                          <a:spcPct val="95000"/>
                        </a:lnSpc>
                      </a:pPr>
                      <a:r>
                        <a:rPr b="1" dirty="0" sz="1250">
                          <a:solidFill>
                            <a:srgbClr val="222222"/>
                          </a:solidFill>
                          <a:latin typeface="Times New Roman"/>
                          <a:cs typeface="Times New Roman"/>
                        </a:rPr>
                        <a:t>2017</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PhysioNet 2012 + temporal attention</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Legacy; limited external validation</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r>
              <a:tr h="424000">
                <a:tc>
                  <a:txBody>
                    <a:bodyPr/>
                    <a:lstStyle/>
                    <a:p>
                      <a:pPr algn="l" marL="54864" marR="36576">
                        <a:lnSpc>
                          <a:spcPct val="95000"/>
                        </a:lnSpc>
                      </a:pPr>
                      <a:r>
                        <a:rPr b="1" dirty="0" sz="1250">
                          <a:solidFill>
                            <a:srgbClr val="222222"/>
                          </a:solidFill>
                          <a:latin typeface="Times New Roman"/>
                          <a:cs typeface="Times New Roman"/>
                        </a:rPr>
                        <a:t>RealMIP: real-time risk, continuous data recovery</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Xie P et al.</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ctr">
                        <a:lnSpc>
                          <a:spcPct val="95000"/>
                        </a:lnSpc>
                      </a:pPr>
                      <a:r>
                        <a:rPr b="1" dirty="0" sz="1250">
                          <a:solidFill>
                            <a:srgbClr val="222222"/>
                          </a:solidFill>
                          <a:latin typeface="Times New Roman"/>
                          <a:cs typeface="Times New Roman"/>
                        </a:rPr>
                        <a:t>2025</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Generative recovery of missing vitals</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Needs multi-hospital data; heavy model</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r>
              <a:tr h="424000">
                <a:tc>
                  <a:txBody>
                    <a:bodyPr/>
                    <a:lstStyle/>
                    <a:p>
                      <a:pPr algn="l" marL="54864" marR="36576">
                        <a:lnSpc>
                          <a:spcPct val="95000"/>
                        </a:lnSpc>
                      </a:pPr>
                      <a:r>
                        <a:rPr b="1" dirty="0" sz="1250">
                          <a:solidFill>
                            <a:srgbClr val="222222"/>
                          </a:solidFill>
                          <a:latin typeface="Times New Roman"/>
                          <a:cs typeface="Times New Roman"/>
                        </a:rPr>
                        <a:t>Deep Interpretable Early Warning (DEWS)</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Choi E et al.</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ctr">
                        <a:lnSpc>
                          <a:spcPct val="95000"/>
                        </a:lnSpc>
                      </a:pPr>
                      <a:r>
                        <a:rPr b="1" dirty="0" sz="1250">
                          <a:solidFill>
                            <a:srgbClr val="222222"/>
                          </a:solidFill>
                          <a:latin typeface="Times New Roman"/>
                          <a:cs typeface="Times New Roman"/>
                        </a:rPr>
                        <a:t>2020</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Hospital vitals; BiLSTM + attention</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Retrospective; attention not cause; weak alarms</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r>
              <a:tr h="424000">
                <a:tc>
                  <a:txBody>
                    <a:bodyPr/>
                    <a:lstStyle/>
                    <a:p>
                      <a:pPr algn="l" marL="54864" marR="36576">
                        <a:lnSpc>
                          <a:spcPct val="95000"/>
                        </a:lnSpc>
                      </a:pPr>
                      <a:r>
                        <a:rPr b="1" dirty="0" sz="1250">
                          <a:solidFill>
                            <a:srgbClr val="222222"/>
                          </a:solidFill>
                          <a:latin typeface="Times New Roman"/>
                          <a:cs typeface="Times New Roman"/>
                        </a:rPr>
                        <a:t>Attention residual LSTM-FCN (ARLF)</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Li Y et al.</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ctr">
                        <a:lnSpc>
                          <a:spcPct val="95000"/>
                        </a:lnSpc>
                      </a:pPr>
                      <a:r>
                        <a:rPr b="1" dirty="0" sz="1250">
                          <a:solidFill>
                            <a:srgbClr val="222222"/>
                          </a:solidFill>
                          <a:latin typeface="Times New Roman"/>
                          <a:cs typeface="Times New Roman"/>
                        </a:rPr>
                        <a:t>2025</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Clinical time series (LSTM-FCN)</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Complex model; limited external validation</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r>
              <a:tr h="424000">
                <a:tc>
                  <a:txBody>
                    <a:bodyPr/>
                    <a:lstStyle/>
                    <a:p>
                      <a:pPr algn="l" marL="54864" marR="36576">
                        <a:lnSpc>
                          <a:spcPct val="95000"/>
                        </a:lnSpc>
                      </a:pPr>
                      <a:r>
                        <a:rPr b="1" dirty="0" sz="1250">
                          <a:solidFill>
                            <a:srgbClr val="222222"/>
                          </a:solidFill>
                          <a:latin typeface="Times New Roman"/>
                          <a:cs typeface="Times New Roman"/>
                        </a:rPr>
                        <a:t>Graph attention for in-hospital deterioration</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Do T-C et al.</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ctr">
                        <a:lnSpc>
                          <a:spcPct val="95000"/>
                        </a:lnSpc>
                      </a:pPr>
                      <a:r>
                        <a:rPr b="1" dirty="0" sz="1250">
                          <a:solidFill>
                            <a:srgbClr val="222222"/>
                          </a:solidFill>
                          <a:latin typeface="Times New Roman"/>
                          <a:cs typeface="Times New Roman"/>
                        </a:rPr>
                        <a:t>2023</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Clinical variables as graph</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Graph focus; not temporal; alternative angle</a:t>
                      </a:r>
                      <a:endParaRPr lang="en-IN" dirty="0" sz="1250">
                        <a:latin typeface="Times New Roman"/>
                        <a:cs typeface="Times New Roman"/>
                      </a:endParaRPr>
                    </a:p>
                  </a:txBody>
                  <a:tcPr anchor="ctr" marL="45720" marR="45720" marT="4572" marB="4572">
                    <a:solidFill>
                      <a:srgbClr val="FFFFFF"/>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r>
              <a:tr h="424000">
                <a:tc>
                  <a:txBody>
                    <a:bodyPr/>
                    <a:lstStyle/>
                    <a:p>
                      <a:pPr algn="l" marL="54864" marR="36576">
                        <a:lnSpc>
                          <a:spcPct val="95000"/>
                        </a:lnSpc>
                      </a:pPr>
                      <a:r>
                        <a:rPr b="1" dirty="0" sz="1250">
                          <a:solidFill>
                            <a:srgbClr val="222222"/>
                          </a:solidFill>
                          <a:latin typeface="Times New Roman"/>
                          <a:cs typeface="Times New Roman"/>
                        </a:rPr>
                        <a:t>Wearable DL in-hospital deterioration</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Scheid M R et al.</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ctr">
                        <a:lnSpc>
                          <a:spcPct val="95000"/>
                        </a:lnSpc>
                      </a:pPr>
                      <a:r>
                        <a:rPr b="1" dirty="0" sz="1250">
                          <a:solidFill>
                            <a:srgbClr val="222222"/>
                          </a:solidFill>
                          <a:latin typeface="Times New Roman"/>
                          <a:cs typeface="Times New Roman"/>
                        </a:rPr>
                        <a:t>2025</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Continuous wearable vitals</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c>
                  <a:txBody>
                    <a:bodyPr/>
                    <a:lstStyle/>
                    <a:p>
                      <a:pPr algn="l" marL="54864" marR="36576">
                        <a:lnSpc>
                          <a:spcPct val="95000"/>
                        </a:lnSpc>
                      </a:pPr>
                      <a:r>
                        <a:rPr b="1" dirty="0" sz="1250">
                          <a:solidFill>
                            <a:srgbClr val="222222"/>
                          </a:solidFill>
                          <a:latin typeface="Times New Roman"/>
                          <a:cs typeface="Times New Roman"/>
                        </a:rPr>
                        <a:t>Sensor noise/dropouts; irregular sampling</a:t>
                      </a:r>
                      <a:endParaRPr lang="en-IN" dirty="0" sz="1250">
                        <a:latin typeface="Times New Roman"/>
                        <a:cs typeface="Times New Roman"/>
                      </a:endParaRPr>
                    </a:p>
                  </a:txBody>
                  <a:tcPr anchor="ctr" marL="45720" marR="45720" marT="4572" marB="4572">
                    <a:solidFill>
                      <a:srgbClr val="EDF2FA"/>
                    </a:solidFill>
                    <a:lnL w="12700" cap="flat">
                      <a:solidFill>
                        <a:srgbClr val="B7C2D6"/>
                      </a:solidFill>
                    </a:lnL>
                    <a:lnR w="12700" cap="flat">
                      <a:solidFill>
                        <a:srgbClr val="B7C2D6"/>
                      </a:solidFill>
                    </a:lnR>
                    <a:lnT w="12700" cap="flat">
                      <a:solidFill>
                        <a:srgbClr val="B7C2D6"/>
                      </a:solidFill>
                    </a:lnT>
                    <a:lnB w="12700" cap="flat">
                      <a:solidFill>
                        <a:srgbClr val="B7C2D6"/>
                      </a:solidFill>
                    </a:lnB>
                  </a:tcPr>
                </a:tc>
              </a:tr>
            </a:tbl>
          </a:graphicData>
        </a:graphic>
      </p:graphicFrame>
      <p:sp>
        <p:nvSpPr>
          <p:cNvPr id="5" name="object 5"/>
          <p:cNvSpPr txBox="1">
            <a:spLocks noGrp="1"/>
          </p:cNvSpPr>
          <p:nvPr>
            <p:ph type="dt" sz="half" idx="6"/>
          </p:nvPr>
        </p:nvSpPr>
        <p:spPr>
          <a:xfrm>
            <a:off x="5830570" y="6390368"/>
            <a:ext cx="522604" cy="179536"/>
          </a:xfrm>
          <a:prstGeom prst="rect">
            <a:avLst/>
          </a:prstGeom>
        </p:spPr>
        <p:txBody>
          <a:bodyPr vert="horz" wrap="square" lIns="0" tIns="0" rIns="0" bIns="0" rtlCol="0">
            <a:spAutoFit/>
          </a:bodyPr>
          <a:lstStyle/>
          <a:p>
            <a:pPr marL="12700">
              <a:lnSpc>
                <a:spcPts val="1410"/>
              </a:lnSpc>
            </a:pPr>
            <a:r>
              <a:rPr spc="-25" dirty="0"/>
              <a:t>202</a:t>
            </a:r>
            <a:r>
              <a:rPr lang="en-IN" spc="-25" dirty="0"/>
              <a:t>6</a:t>
            </a:r>
            <a:r>
              <a:rPr spc="-25" dirty="0"/>
              <a:t>-2</a:t>
            </a:r>
            <a:r>
              <a:rPr lang="en-IN" spc="-25" dirty="0"/>
              <a:t>7</a:t>
            </a:r>
            <a:endParaRPr spc="-25" dirty="0"/>
          </a:p>
        </p:txBody>
      </p:sp>
      <p:sp>
        <p:nvSpPr>
          <p:cNvPr id="6" name="object 6"/>
          <p:cNvSpPr txBox="1"/>
          <p:nvPr/>
        </p:nvSpPr>
        <p:spPr>
          <a:xfrm>
            <a:off x="11176507" y="6389149"/>
            <a:ext cx="101600" cy="179536"/>
          </a:xfrm>
          <a:prstGeom prst="rect">
            <a:avLst/>
          </a:prstGeom>
        </p:spPr>
        <p:txBody>
          <a:bodyPr vert="horz" wrap="square" lIns="0" tIns="0" rIns="0" bIns="0" rtlCol="0">
            <a:spAutoFit/>
          </a:bodyPr>
          <a:lstStyle/>
          <a:p>
            <a:pPr marL="12700">
              <a:lnSpc>
                <a:spcPts val="1410"/>
              </a:lnSpc>
            </a:pPr>
            <a:r>
              <a:rPr lang="en-IN" sz="1200" spc="-50" dirty="0">
                <a:latin typeface="Times New Roman"/>
                <a:cs typeface="Times New Roman"/>
              </a:rPr>
              <a:t>3</a:t>
            </a:r>
            <a:endParaRPr sz="12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635" y="325881"/>
            <a:ext cx="9949484" cy="5359801"/>
          </a:xfrm>
          <a:prstGeom prst="rect">
            <a:avLst/>
          </a:prstGeom>
        </p:spPr>
        <p:txBody>
          <a:bodyPr vert="horz" wrap="square" lIns="0" tIns="12065" rIns="0" bIns="0" rtlCol="0">
            <a:spAutoFit/>
          </a:bodyPr>
          <a:lstStyle/>
          <a:p>
            <a:pPr marL="2451735">
              <a:lnSpc>
                <a:spcPct val="100000"/>
              </a:lnSpc>
              <a:spcBef>
                <a:spcPts val="95"/>
              </a:spcBef>
            </a:pPr>
            <a:r>
              <a:rPr sz="2800" b="1" dirty="0">
                <a:latin typeface="Times New Roman"/>
                <a:cs typeface="Times New Roman"/>
              </a:rPr>
              <a:t>P.A.</a:t>
            </a:r>
            <a:r>
              <a:rPr sz="2800" b="1" spc="-55" dirty="0">
                <a:latin typeface="Times New Roman"/>
                <a:cs typeface="Times New Roman"/>
              </a:rPr>
              <a:t> </a:t>
            </a:r>
            <a:r>
              <a:rPr sz="2800" b="1" dirty="0">
                <a:latin typeface="Times New Roman"/>
                <a:cs typeface="Times New Roman"/>
              </a:rPr>
              <a:t>COLLEGE</a:t>
            </a:r>
            <a:r>
              <a:rPr sz="2800" b="1" spc="-40" dirty="0">
                <a:latin typeface="Times New Roman"/>
                <a:cs typeface="Times New Roman"/>
              </a:rPr>
              <a:t> </a:t>
            </a:r>
            <a:r>
              <a:rPr sz="2800" b="1" dirty="0">
                <a:latin typeface="Times New Roman"/>
                <a:cs typeface="Times New Roman"/>
              </a:rPr>
              <a:t>OF</a:t>
            </a:r>
            <a:r>
              <a:rPr sz="2800" b="1" spc="-55" dirty="0">
                <a:latin typeface="Times New Roman"/>
                <a:cs typeface="Times New Roman"/>
              </a:rPr>
              <a:t> </a:t>
            </a:r>
            <a:r>
              <a:rPr sz="2800" b="1" spc="-10" dirty="0">
                <a:latin typeface="Times New Roman"/>
                <a:cs typeface="Times New Roman"/>
              </a:rPr>
              <a:t>ENGINEERING</a:t>
            </a:r>
            <a:endParaRPr sz="2800" dirty="0">
              <a:latin typeface="Times New Roman"/>
              <a:cs typeface="Times New Roman"/>
            </a:endParaRPr>
          </a:p>
          <a:p>
            <a:pPr marL="1743075">
              <a:lnSpc>
                <a:spcPct val="100000"/>
              </a:lnSpc>
              <a:spcBef>
                <a:spcPts val="30"/>
              </a:spcBef>
            </a:pPr>
            <a:r>
              <a:rPr sz="2000" b="1" spc="-10" dirty="0">
                <a:latin typeface="Times New Roman"/>
                <a:cs typeface="Times New Roman"/>
              </a:rPr>
              <a:t>DEPARTMENT</a:t>
            </a:r>
            <a:r>
              <a:rPr sz="2000" b="1" spc="-40" dirty="0">
                <a:latin typeface="Times New Roman"/>
                <a:cs typeface="Times New Roman"/>
              </a:rPr>
              <a:t> </a:t>
            </a:r>
            <a:r>
              <a:rPr sz="2000" b="1" dirty="0">
                <a:latin typeface="Times New Roman"/>
                <a:cs typeface="Times New Roman"/>
              </a:rPr>
              <a:t>OF</a:t>
            </a:r>
            <a:r>
              <a:rPr sz="2000" b="1" spc="-50" dirty="0">
                <a:latin typeface="Times New Roman"/>
                <a:cs typeface="Times New Roman"/>
              </a:rPr>
              <a:t> </a:t>
            </a:r>
            <a:r>
              <a:rPr sz="2000" b="1" dirty="0">
                <a:latin typeface="Times New Roman"/>
                <a:cs typeface="Times New Roman"/>
              </a:rPr>
              <a:t>COMPUTER</a:t>
            </a:r>
            <a:r>
              <a:rPr sz="2000" b="1" spc="-45" dirty="0">
                <a:latin typeface="Times New Roman"/>
                <a:cs typeface="Times New Roman"/>
              </a:rPr>
              <a:t> </a:t>
            </a:r>
            <a:r>
              <a:rPr sz="2000" b="1" dirty="0">
                <a:latin typeface="Times New Roman"/>
                <a:cs typeface="Times New Roman"/>
              </a:rPr>
              <a:t>SCIENCE</a:t>
            </a:r>
            <a:r>
              <a:rPr sz="2000" b="1" spc="-50" dirty="0">
                <a:latin typeface="Times New Roman"/>
                <a:cs typeface="Times New Roman"/>
              </a:rPr>
              <a:t> </a:t>
            </a:r>
            <a:r>
              <a:rPr sz="2000" b="1" dirty="0">
                <a:latin typeface="Times New Roman"/>
                <a:cs typeface="Times New Roman"/>
              </a:rPr>
              <a:t>&amp;</a:t>
            </a:r>
            <a:r>
              <a:rPr sz="2000" b="1" spc="-45" dirty="0">
                <a:latin typeface="Times New Roman"/>
                <a:cs typeface="Times New Roman"/>
              </a:rPr>
              <a:t> </a:t>
            </a:r>
            <a:r>
              <a:rPr sz="2000" b="1" spc="-10" dirty="0">
                <a:latin typeface="Times New Roman"/>
                <a:cs typeface="Times New Roman"/>
              </a:rPr>
              <a:t>ENGINEERING</a:t>
            </a:r>
            <a:endParaRPr sz="2000" dirty="0">
              <a:latin typeface="Times New Roman"/>
              <a:cs typeface="Times New Roman"/>
            </a:endParaRPr>
          </a:p>
          <a:p>
            <a:pPr>
              <a:lnSpc>
                <a:spcPct val="100000"/>
              </a:lnSpc>
              <a:spcBef>
                <a:spcPts val="1880"/>
              </a:spcBef>
            </a:pPr>
            <a:endParaRPr sz="2000" dirty="0">
              <a:latin typeface="Times New Roman"/>
              <a:cs typeface="Times New Roman"/>
            </a:endParaRPr>
          </a:p>
          <a:p>
            <a:pPr marL="1456030" algn="ctr">
              <a:lnSpc>
                <a:spcPct val="100000"/>
              </a:lnSpc>
              <a:spcBef>
                <a:spcPts val="5"/>
              </a:spcBef>
            </a:pPr>
            <a:r>
              <a:rPr lang="en-IN" sz="3200" b="1" spc="-10" dirty="0">
                <a:solidFill>
                  <a:srgbClr val="2D5395"/>
                </a:solidFill>
                <a:latin typeface="Times New Roman"/>
                <a:cs typeface="Times New Roman"/>
              </a:rPr>
              <a:t>PROBLEM STATEMENT</a:t>
            </a:r>
            <a:endParaRPr sz="3200" dirty="0">
              <a:latin typeface="Times New Roman"/>
              <a:cs typeface="Times New Roman"/>
            </a:endParaRPr>
          </a:p>
          <a:p>
            <a:pPr marL="228600" algn="just">
              <a:lnSpc>
                <a:spcPct val="150000"/>
              </a:lnSpc>
            </a:pPr>
            <a:r>
              <a:rPr sz="1800">
                <a:latin typeface="Times New Roman"/>
              </a:rPr>
              <a:t>ICU patients need continuous risk assessment, but bedside scores such as NEWS2, SOFA and APACHE-II depend on single-timepoint thresholds and manual calculation, ignoring vital-sign trajectories, which results in late detection, alarm fatigue and limited sensitivity for early deterioration.</a:t>
            </a:r>
          </a:p>
          <a:p>
            <a:pPr marL="228600" algn="just">
              <a:lnSpc>
                <a:spcPct val="150000"/>
              </a:lnSpc>
            </a:pPr>
            <a:r>
              <a:rPr sz="1800">
                <a:latin typeface="Times New Roman"/>
              </a:rPr>
              <a:t>What is needed is an automated model that learns temporal patterns from streaming vitals and labs, and produces interpretable output so clinicians can see which vitals and timepoints drove the risk.</a:t>
            </a:r>
          </a:p>
        </p:txBody>
      </p:sp>
      <p:pic>
        <p:nvPicPr>
          <p:cNvPr id="3" name="object 3"/>
          <p:cNvPicPr/>
          <p:nvPr/>
        </p:nvPicPr>
        <p:blipFill>
          <a:blip r:embed="rId2" cstate="print"/>
          <a:stretch>
            <a:fillRect/>
          </a:stretch>
        </p:blipFill>
        <p:spPr>
          <a:xfrm>
            <a:off x="10866119" y="0"/>
            <a:ext cx="1325879" cy="1411224"/>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20" dirty="0"/>
              <a:t>DEPT.</a:t>
            </a:r>
            <a:r>
              <a:rPr spc="-35" dirty="0"/>
              <a:t> </a:t>
            </a:r>
            <a:r>
              <a:rPr dirty="0"/>
              <a:t>OF</a:t>
            </a:r>
            <a:r>
              <a:rPr spc="-45" dirty="0"/>
              <a:t> </a:t>
            </a:r>
            <a:r>
              <a:rPr spc="-25" dirty="0"/>
              <a:t>CSE</a:t>
            </a:r>
          </a:p>
        </p:txBody>
      </p:sp>
      <p:sp>
        <p:nvSpPr>
          <p:cNvPr id="5" name="object 5"/>
          <p:cNvSpPr txBox="1">
            <a:spLocks noGrp="1"/>
          </p:cNvSpPr>
          <p:nvPr>
            <p:ph type="dt" sz="half" idx="6"/>
          </p:nvPr>
        </p:nvSpPr>
        <p:spPr>
          <a:xfrm>
            <a:off x="5830570" y="6390368"/>
            <a:ext cx="522604" cy="179536"/>
          </a:xfrm>
          <a:prstGeom prst="rect">
            <a:avLst/>
          </a:prstGeom>
        </p:spPr>
        <p:txBody>
          <a:bodyPr vert="horz" wrap="square" lIns="0" tIns="0" rIns="0" bIns="0" rtlCol="0">
            <a:spAutoFit/>
          </a:bodyPr>
          <a:lstStyle/>
          <a:p>
            <a:pPr marL="12700">
              <a:lnSpc>
                <a:spcPts val="1410"/>
              </a:lnSpc>
            </a:pPr>
            <a:r>
              <a:rPr spc="-25" dirty="0"/>
              <a:t>202</a:t>
            </a:r>
            <a:r>
              <a:rPr lang="en-IN" spc="-25" dirty="0"/>
              <a:t>6</a:t>
            </a:r>
            <a:r>
              <a:rPr spc="-25" dirty="0"/>
              <a:t>-2</a:t>
            </a:r>
            <a:r>
              <a:rPr lang="en-IN" spc="-25" dirty="0"/>
              <a:t>7</a:t>
            </a:r>
            <a:endParaRPr spc="-25" dirty="0"/>
          </a:p>
        </p:txBody>
      </p:sp>
      <p:sp>
        <p:nvSpPr>
          <p:cNvPr id="6" name="object 6"/>
          <p:cNvSpPr txBox="1">
            <a:spLocks noGrp="1"/>
          </p:cNvSpPr>
          <p:nvPr>
            <p:ph type="sldNum" sz="quarter" idx="7"/>
          </p:nvPr>
        </p:nvSpPr>
        <p:spPr>
          <a:xfrm>
            <a:off x="11062716" y="6389149"/>
            <a:ext cx="253491" cy="179536"/>
          </a:xfrm>
          <a:prstGeom prst="rect">
            <a:avLst/>
          </a:prstGeom>
        </p:spPr>
        <p:txBody>
          <a:bodyPr vert="horz" wrap="square" lIns="0" tIns="0" rIns="0" bIns="0" rtlCol="0">
            <a:spAutoFit/>
          </a:bodyPr>
          <a:lstStyle/>
          <a:p>
            <a:pPr marL="126364">
              <a:lnSpc>
                <a:spcPts val="1410"/>
              </a:lnSpc>
            </a:pPr>
            <a:r>
              <a:rPr lang="en-IN" spc="-50" dirty="0"/>
              <a:t>4</a:t>
            </a:r>
            <a:endParaRPr spc="-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635" y="325881"/>
            <a:ext cx="8902700" cy="5092420"/>
          </a:xfrm>
          <a:prstGeom prst="rect">
            <a:avLst/>
          </a:prstGeom>
        </p:spPr>
        <p:txBody>
          <a:bodyPr vert="horz" wrap="square" lIns="0" tIns="12065" rIns="0" bIns="0" rtlCol="0">
            <a:spAutoFit/>
          </a:bodyPr>
          <a:lstStyle/>
          <a:p>
            <a:pPr marL="2451735">
              <a:lnSpc>
                <a:spcPct val="100000"/>
              </a:lnSpc>
              <a:spcBef>
                <a:spcPts val="95"/>
              </a:spcBef>
            </a:pPr>
            <a:r>
              <a:rPr sz="2800" b="1" dirty="0">
                <a:latin typeface="Times New Roman"/>
                <a:cs typeface="Times New Roman"/>
              </a:rPr>
              <a:t>P.A.</a:t>
            </a:r>
            <a:r>
              <a:rPr sz="2800" b="1" spc="-55" dirty="0">
                <a:latin typeface="Times New Roman"/>
                <a:cs typeface="Times New Roman"/>
              </a:rPr>
              <a:t> </a:t>
            </a:r>
            <a:r>
              <a:rPr sz="2800" b="1" dirty="0">
                <a:latin typeface="Times New Roman"/>
                <a:cs typeface="Times New Roman"/>
              </a:rPr>
              <a:t>COLLEGE</a:t>
            </a:r>
            <a:r>
              <a:rPr sz="2800" b="1" spc="-40" dirty="0">
                <a:latin typeface="Times New Roman"/>
                <a:cs typeface="Times New Roman"/>
              </a:rPr>
              <a:t> </a:t>
            </a:r>
            <a:r>
              <a:rPr sz="2800" b="1" dirty="0">
                <a:latin typeface="Times New Roman"/>
                <a:cs typeface="Times New Roman"/>
              </a:rPr>
              <a:t>OF</a:t>
            </a:r>
            <a:r>
              <a:rPr sz="2800" b="1" spc="-55" dirty="0">
                <a:latin typeface="Times New Roman"/>
                <a:cs typeface="Times New Roman"/>
              </a:rPr>
              <a:t> </a:t>
            </a:r>
            <a:r>
              <a:rPr sz="2800" b="1" spc="-10" dirty="0">
                <a:latin typeface="Times New Roman"/>
                <a:cs typeface="Times New Roman"/>
              </a:rPr>
              <a:t>ENGINEERING</a:t>
            </a:r>
            <a:endParaRPr sz="2800" dirty="0">
              <a:latin typeface="Times New Roman"/>
              <a:cs typeface="Times New Roman"/>
            </a:endParaRPr>
          </a:p>
          <a:p>
            <a:pPr marL="1743075">
              <a:lnSpc>
                <a:spcPct val="100000"/>
              </a:lnSpc>
              <a:spcBef>
                <a:spcPts val="30"/>
              </a:spcBef>
            </a:pPr>
            <a:r>
              <a:rPr sz="2000" b="1" spc="-10" dirty="0">
                <a:latin typeface="Times New Roman"/>
                <a:cs typeface="Times New Roman"/>
              </a:rPr>
              <a:t>DEPARTMENT</a:t>
            </a:r>
            <a:r>
              <a:rPr sz="2000" b="1" spc="-40" dirty="0">
                <a:latin typeface="Times New Roman"/>
                <a:cs typeface="Times New Roman"/>
              </a:rPr>
              <a:t> </a:t>
            </a:r>
            <a:r>
              <a:rPr sz="2000" b="1" dirty="0">
                <a:latin typeface="Times New Roman"/>
                <a:cs typeface="Times New Roman"/>
              </a:rPr>
              <a:t>OF</a:t>
            </a:r>
            <a:r>
              <a:rPr sz="2000" b="1" spc="-50" dirty="0">
                <a:latin typeface="Times New Roman"/>
                <a:cs typeface="Times New Roman"/>
              </a:rPr>
              <a:t> </a:t>
            </a:r>
            <a:r>
              <a:rPr sz="2000" b="1" dirty="0">
                <a:latin typeface="Times New Roman"/>
                <a:cs typeface="Times New Roman"/>
              </a:rPr>
              <a:t>COMPUTER</a:t>
            </a:r>
            <a:r>
              <a:rPr sz="2000" b="1" spc="-45" dirty="0">
                <a:latin typeface="Times New Roman"/>
                <a:cs typeface="Times New Roman"/>
              </a:rPr>
              <a:t> </a:t>
            </a:r>
            <a:r>
              <a:rPr sz="2000" b="1" dirty="0">
                <a:latin typeface="Times New Roman"/>
                <a:cs typeface="Times New Roman"/>
              </a:rPr>
              <a:t>SCIENCE</a:t>
            </a:r>
            <a:r>
              <a:rPr sz="2000" b="1" spc="-50" dirty="0">
                <a:latin typeface="Times New Roman"/>
                <a:cs typeface="Times New Roman"/>
              </a:rPr>
              <a:t> </a:t>
            </a:r>
            <a:r>
              <a:rPr sz="2000" b="1" dirty="0">
                <a:latin typeface="Times New Roman"/>
                <a:cs typeface="Times New Roman"/>
              </a:rPr>
              <a:t>&amp;</a:t>
            </a:r>
            <a:r>
              <a:rPr sz="2000" b="1" spc="-45" dirty="0">
                <a:latin typeface="Times New Roman"/>
                <a:cs typeface="Times New Roman"/>
              </a:rPr>
              <a:t> </a:t>
            </a:r>
            <a:r>
              <a:rPr sz="2000" b="1" spc="-10" dirty="0">
                <a:latin typeface="Times New Roman"/>
                <a:cs typeface="Times New Roman"/>
              </a:rPr>
              <a:t>ENGINEERING</a:t>
            </a:r>
            <a:endParaRPr sz="2000" dirty="0">
              <a:latin typeface="Times New Roman"/>
              <a:cs typeface="Times New Roman"/>
            </a:endParaRPr>
          </a:p>
          <a:p>
            <a:pPr marL="3495040" algn="l">
              <a:lnSpc>
                <a:spcPct val="100000"/>
              </a:lnSpc>
              <a:spcBef>
                <a:spcPts val="5"/>
              </a:spcBef>
            </a:pPr>
            <a:endParaRPr lang="en-IN" sz="2000" dirty="0">
              <a:latin typeface="Times New Roman"/>
              <a:cs typeface="Times New Roman"/>
            </a:endParaRPr>
          </a:p>
          <a:p>
            <a:pPr marL="1456030" algn="ctr">
              <a:lnSpc>
                <a:spcPct val="100000"/>
              </a:lnSpc>
              <a:spcBef>
                <a:spcPts val="5"/>
              </a:spcBef>
            </a:pPr>
            <a:r>
              <a:rPr lang="en-IN" sz="3200" b="1" spc="-10" dirty="0">
                <a:solidFill>
                  <a:srgbClr val="2D5395"/>
                </a:solidFill>
                <a:latin typeface="Times New Roman"/>
                <a:cs typeface="Times New Roman"/>
              </a:rPr>
              <a:t>PROPOSED METHODOLOGY</a:t>
            </a:r>
            <a:endParaRPr sz="3200" dirty="0">
              <a:latin typeface="Times New Roman"/>
              <a:cs typeface="Times New Roman"/>
            </a:endParaRPr>
          </a:p>
          <a:p>
            <a:pPr marL="228600" indent="-228600" algn="just">
              <a:lnSpc>
                <a:spcPct val="125000"/>
              </a:lnSpc>
              <a:buFont typeface="Arial"/>
              <a:buChar char="•"/>
            </a:pPr>
            <a:r>
              <a:rPr sz="1600" dirty="0">
                <a:latin typeface="Times New Roman"/>
              </a:rPr>
              <a:t>Dataset: PhysioNet 2012 Challenge, 4,000 ICU stays, 37 variables over 48 hours, mortality labels.</a:t>
            </a:r>
          </a:p>
          <a:p>
            <a:pPr marL="228600" indent="-228600" algn="just">
              <a:lnSpc>
                <a:spcPct val="125000"/>
              </a:lnSpc>
              <a:buFont typeface="Arial"/>
              <a:buChar char="•"/>
            </a:pPr>
            <a:r>
              <a:rPr sz="1600" dirty="0">
                <a:latin typeface="Times New Roman"/>
              </a:rPr>
              <a:t>Features (12): HR, </a:t>
            </a:r>
            <a:r>
              <a:rPr sz="1600" dirty="0" err="1">
                <a:latin typeface="Times New Roman"/>
              </a:rPr>
              <a:t>RespRate</a:t>
            </a:r>
            <a:r>
              <a:rPr sz="1600" dirty="0">
                <a:latin typeface="Times New Roman"/>
              </a:rPr>
              <a:t>, Temp, </a:t>
            </a:r>
            <a:r>
              <a:rPr sz="1600" dirty="0" err="1">
                <a:latin typeface="Times New Roman"/>
              </a:rPr>
              <a:t>SysBP</a:t>
            </a:r>
            <a:r>
              <a:rPr sz="1600" dirty="0">
                <a:latin typeface="Times New Roman"/>
              </a:rPr>
              <a:t>, </a:t>
            </a:r>
            <a:r>
              <a:rPr sz="1600" dirty="0" err="1">
                <a:latin typeface="Times New Roman"/>
              </a:rPr>
              <a:t>DiasBP</a:t>
            </a:r>
            <a:r>
              <a:rPr sz="1600" dirty="0">
                <a:latin typeface="Times New Roman"/>
              </a:rPr>
              <a:t>, SpO2 (via SaO2) + GCS, BUN, Creatinine, WBC, Platelets, Glucose.</a:t>
            </a:r>
          </a:p>
          <a:p>
            <a:pPr marL="228600" indent="-228600" algn="just">
              <a:lnSpc>
                <a:spcPct val="125000"/>
              </a:lnSpc>
              <a:buFont typeface="Arial"/>
              <a:buChar char="•"/>
            </a:pPr>
            <a:r>
              <a:rPr sz="1600" dirty="0">
                <a:latin typeface="Times New Roman"/>
              </a:rPr>
              <a:t>Preprocessing: 90-min sliding windows, causal per-window interpolation, train-only z-score, patient-level 80/20 split.</a:t>
            </a:r>
          </a:p>
          <a:p>
            <a:pPr marL="228600" indent="-228600" algn="just">
              <a:lnSpc>
                <a:spcPct val="125000"/>
              </a:lnSpc>
              <a:buFont typeface="Arial"/>
              <a:buChar char="•"/>
            </a:pPr>
            <a:r>
              <a:rPr sz="1600" dirty="0">
                <a:latin typeface="Times New Roman"/>
              </a:rPr>
              <a:t>Model: 2-layer LSTM-96 with additive temporal attention, </a:t>
            </a:r>
            <a:r>
              <a:rPr sz="1600" dirty="0" err="1">
                <a:latin typeface="Times New Roman"/>
              </a:rPr>
              <a:t>BatchNorm</a:t>
            </a:r>
            <a:r>
              <a:rPr sz="1600" dirty="0">
                <a:latin typeface="Times New Roman"/>
              </a:rPr>
              <a:t>, dropout 0.3, weighted BCE, Adam with step decay.</a:t>
            </a:r>
          </a:p>
          <a:p>
            <a:pPr marL="228600" indent="-228600" algn="just">
              <a:lnSpc>
                <a:spcPct val="125000"/>
              </a:lnSpc>
              <a:buFont typeface="Arial"/>
              <a:buChar char="•"/>
            </a:pPr>
            <a:r>
              <a:rPr sz="1600" dirty="0">
                <a:latin typeface="Times New Roman"/>
              </a:rPr>
              <a:t>Training: full set-a plus 80% set-b, early stopping on </a:t>
            </a:r>
            <a:r>
              <a:rPr sz="1600" dirty="0" err="1">
                <a:latin typeface="Times New Roman"/>
              </a:rPr>
              <a:t>val</a:t>
            </a:r>
            <a:r>
              <a:rPr sz="1600" dirty="0">
                <a:latin typeface="Times New Roman"/>
              </a:rPr>
              <a:t> AUC; 3-model logit-averaged ensemble for deployment.</a:t>
            </a:r>
          </a:p>
          <a:p>
            <a:pPr marL="228600" indent="-228600" algn="just">
              <a:lnSpc>
                <a:spcPct val="125000"/>
              </a:lnSpc>
              <a:buFont typeface="Arial"/>
              <a:buChar char="•"/>
            </a:pPr>
            <a:r>
              <a:rPr sz="1600" dirty="0">
                <a:latin typeface="Times New Roman"/>
              </a:rPr>
              <a:t>System: Vitals to </a:t>
            </a:r>
            <a:r>
              <a:rPr sz="1600" dirty="0" err="1">
                <a:latin typeface="Times New Roman"/>
              </a:rPr>
              <a:t>FastAPI</a:t>
            </a:r>
            <a:r>
              <a:rPr sz="1600" dirty="0">
                <a:latin typeface="Times New Roman"/>
              </a:rPr>
              <a:t> /ingest to SQLite to ensemble scorer (0-100) to React dashboard and Discord/Telegram alerts.</a:t>
            </a:r>
          </a:p>
        </p:txBody>
      </p:sp>
      <p:pic>
        <p:nvPicPr>
          <p:cNvPr id="3" name="object 3"/>
          <p:cNvPicPr/>
          <p:nvPr/>
        </p:nvPicPr>
        <p:blipFill>
          <a:blip r:embed="rId2" cstate="print"/>
          <a:stretch>
            <a:fillRect/>
          </a:stretch>
        </p:blipFill>
        <p:spPr>
          <a:xfrm>
            <a:off x="10866119" y="0"/>
            <a:ext cx="1325879" cy="1411224"/>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20" dirty="0"/>
              <a:t>DEPT.</a:t>
            </a:r>
            <a:r>
              <a:rPr spc="-35" dirty="0"/>
              <a:t> </a:t>
            </a:r>
            <a:r>
              <a:rPr dirty="0"/>
              <a:t>OF</a:t>
            </a:r>
            <a:r>
              <a:rPr spc="-45" dirty="0"/>
              <a:t> </a:t>
            </a:r>
            <a:r>
              <a:rPr spc="-25" dirty="0"/>
              <a:t>CSE</a:t>
            </a:r>
          </a:p>
        </p:txBody>
      </p:sp>
      <p:sp>
        <p:nvSpPr>
          <p:cNvPr id="5" name="object 5"/>
          <p:cNvSpPr txBox="1">
            <a:spLocks noGrp="1"/>
          </p:cNvSpPr>
          <p:nvPr>
            <p:ph type="dt" sz="half" idx="6"/>
          </p:nvPr>
        </p:nvSpPr>
        <p:spPr>
          <a:xfrm>
            <a:off x="5830570" y="6390368"/>
            <a:ext cx="522604" cy="179536"/>
          </a:xfrm>
          <a:prstGeom prst="rect">
            <a:avLst/>
          </a:prstGeom>
        </p:spPr>
        <p:txBody>
          <a:bodyPr vert="horz" wrap="square" lIns="0" tIns="0" rIns="0" bIns="0" rtlCol="0">
            <a:spAutoFit/>
          </a:bodyPr>
          <a:lstStyle/>
          <a:p>
            <a:pPr marL="12700">
              <a:lnSpc>
                <a:spcPts val="1410"/>
              </a:lnSpc>
            </a:pPr>
            <a:r>
              <a:rPr spc="-25" dirty="0"/>
              <a:t>202</a:t>
            </a:r>
            <a:r>
              <a:rPr lang="en-IN" spc="-25" dirty="0"/>
              <a:t>6</a:t>
            </a:r>
            <a:r>
              <a:rPr spc="-25" dirty="0"/>
              <a:t>-2</a:t>
            </a:r>
            <a:r>
              <a:rPr lang="en-IN" spc="-25" dirty="0"/>
              <a:t>7</a:t>
            </a:r>
            <a:endParaRPr spc="-25" dirty="0"/>
          </a:p>
        </p:txBody>
      </p:sp>
      <p:sp>
        <p:nvSpPr>
          <p:cNvPr id="6" name="object 6"/>
          <p:cNvSpPr txBox="1"/>
          <p:nvPr/>
        </p:nvSpPr>
        <p:spPr>
          <a:xfrm>
            <a:off x="11176507" y="6389149"/>
            <a:ext cx="101600" cy="194310"/>
          </a:xfrm>
          <a:prstGeom prst="rect">
            <a:avLst/>
          </a:prstGeom>
        </p:spPr>
        <p:txBody>
          <a:bodyPr vert="horz" wrap="square" lIns="0" tIns="0" rIns="0" bIns="0" rtlCol="0">
            <a:spAutoFit/>
          </a:bodyPr>
          <a:lstStyle/>
          <a:p>
            <a:pPr marL="12700">
              <a:lnSpc>
                <a:spcPts val="1410"/>
              </a:lnSpc>
            </a:pPr>
            <a:r>
              <a:rPr sz="1200" spc="-50" dirty="0">
                <a:latin typeface="Times New Roman"/>
                <a:cs typeface="Times New Roman"/>
              </a:rPr>
              <a:t>5</a:t>
            </a:r>
            <a:endParaRPr sz="120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8CD62-EFDC-7D93-C075-F10016B04D6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44A718F-CDC2-156E-D98B-B0A1FEA016DF}"/>
              </a:ext>
            </a:extLst>
          </p:cNvPr>
          <p:cNvSpPr txBox="1"/>
          <p:nvPr/>
        </p:nvSpPr>
        <p:spPr>
          <a:xfrm>
            <a:off x="916635" y="325881"/>
            <a:ext cx="8902700" cy="5116144"/>
          </a:xfrm>
          <a:prstGeom prst="rect">
            <a:avLst/>
          </a:prstGeom>
        </p:spPr>
        <p:txBody>
          <a:bodyPr vert="horz" wrap="square" lIns="0" tIns="12065" rIns="0" bIns="0" rtlCol="0">
            <a:spAutoFit/>
          </a:bodyPr>
          <a:lstStyle/>
          <a:p>
            <a:pPr marL="2451735">
              <a:lnSpc>
                <a:spcPct val="100000"/>
              </a:lnSpc>
              <a:spcBef>
                <a:spcPts val="95"/>
              </a:spcBef>
            </a:pPr>
            <a:r>
              <a:rPr sz="2800" b="1" dirty="0">
                <a:latin typeface="Times New Roman"/>
                <a:cs typeface="Times New Roman"/>
              </a:rPr>
              <a:t>P.A.</a:t>
            </a:r>
            <a:r>
              <a:rPr sz="2800" b="1" spc="-55" dirty="0">
                <a:latin typeface="Times New Roman"/>
                <a:cs typeface="Times New Roman"/>
              </a:rPr>
              <a:t> </a:t>
            </a:r>
            <a:r>
              <a:rPr sz="2800" b="1" dirty="0">
                <a:latin typeface="Times New Roman"/>
                <a:cs typeface="Times New Roman"/>
              </a:rPr>
              <a:t>COLLEGE</a:t>
            </a:r>
            <a:r>
              <a:rPr sz="2800" b="1" spc="-40" dirty="0">
                <a:latin typeface="Times New Roman"/>
                <a:cs typeface="Times New Roman"/>
              </a:rPr>
              <a:t> </a:t>
            </a:r>
            <a:r>
              <a:rPr sz="2800" b="1" dirty="0">
                <a:latin typeface="Times New Roman"/>
                <a:cs typeface="Times New Roman"/>
              </a:rPr>
              <a:t>OF</a:t>
            </a:r>
            <a:r>
              <a:rPr sz="2800" b="1" spc="-55" dirty="0">
                <a:latin typeface="Times New Roman"/>
                <a:cs typeface="Times New Roman"/>
              </a:rPr>
              <a:t> </a:t>
            </a:r>
            <a:r>
              <a:rPr sz="2800" b="1" spc="-10" dirty="0">
                <a:latin typeface="Times New Roman"/>
                <a:cs typeface="Times New Roman"/>
              </a:rPr>
              <a:t>ENGINEERING</a:t>
            </a:r>
            <a:endParaRPr sz="2800" dirty="0">
              <a:latin typeface="Times New Roman"/>
              <a:cs typeface="Times New Roman"/>
            </a:endParaRPr>
          </a:p>
          <a:p>
            <a:pPr marL="1743075">
              <a:lnSpc>
                <a:spcPct val="100000"/>
              </a:lnSpc>
              <a:spcBef>
                <a:spcPts val="30"/>
              </a:spcBef>
            </a:pPr>
            <a:r>
              <a:rPr sz="2000" b="1" spc="-10" dirty="0">
                <a:latin typeface="Times New Roman"/>
                <a:cs typeface="Times New Roman"/>
              </a:rPr>
              <a:t>DEPARTMENT</a:t>
            </a:r>
            <a:r>
              <a:rPr sz="2000" b="1" spc="-40" dirty="0">
                <a:latin typeface="Times New Roman"/>
                <a:cs typeface="Times New Roman"/>
              </a:rPr>
              <a:t> </a:t>
            </a:r>
            <a:r>
              <a:rPr sz="2000" b="1" dirty="0">
                <a:latin typeface="Times New Roman"/>
                <a:cs typeface="Times New Roman"/>
              </a:rPr>
              <a:t>OF</a:t>
            </a:r>
            <a:r>
              <a:rPr sz="2000" b="1" spc="-50" dirty="0">
                <a:latin typeface="Times New Roman"/>
                <a:cs typeface="Times New Roman"/>
              </a:rPr>
              <a:t> </a:t>
            </a:r>
            <a:r>
              <a:rPr sz="2000" b="1" dirty="0">
                <a:latin typeface="Times New Roman"/>
                <a:cs typeface="Times New Roman"/>
              </a:rPr>
              <a:t>COMPUTER</a:t>
            </a:r>
            <a:r>
              <a:rPr sz="2000" b="1" spc="-45" dirty="0">
                <a:latin typeface="Times New Roman"/>
                <a:cs typeface="Times New Roman"/>
              </a:rPr>
              <a:t> </a:t>
            </a:r>
            <a:r>
              <a:rPr sz="2000" b="1" dirty="0">
                <a:latin typeface="Times New Roman"/>
                <a:cs typeface="Times New Roman"/>
              </a:rPr>
              <a:t>SCIENCE</a:t>
            </a:r>
            <a:r>
              <a:rPr sz="2000" b="1" spc="-50" dirty="0">
                <a:latin typeface="Times New Roman"/>
                <a:cs typeface="Times New Roman"/>
              </a:rPr>
              <a:t> </a:t>
            </a:r>
            <a:r>
              <a:rPr sz="2000" b="1" dirty="0">
                <a:latin typeface="Times New Roman"/>
                <a:cs typeface="Times New Roman"/>
              </a:rPr>
              <a:t>&amp;</a:t>
            </a:r>
            <a:r>
              <a:rPr sz="2000" b="1" spc="-45" dirty="0">
                <a:latin typeface="Times New Roman"/>
                <a:cs typeface="Times New Roman"/>
              </a:rPr>
              <a:t> </a:t>
            </a:r>
            <a:r>
              <a:rPr sz="2000" b="1" spc="-10" dirty="0">
                <a:latin typeface="Times New Roman"/>
                <a:cs typeface="Times New Roman"/>
              </a:rPr>
              <a:t>ENGINEERING</a:t>
            </a:r>
            <a:endParaRPr sz="2000" dirty="0">
              <a:latin typeface="Times New Roman"/>
              <a:cs typeface="Times New Roman"/>
            </a:endParaRPr>
          </a:p>
          <a:p>
            <a:pPr marL="1456030" algn="ctr">
              <a:lnSpc>
                <a:spcPct val="100000"/>
              </a:lnSpc>
              <a:spcBef>
                <a:spcPts val="5"/>
              </a:spcBef>
            </a:pPr>
            <a:endParaRPr lang="en-IN" sz="2000" dirty="0">
              <a:latin typeface="Times New Roman"/>
              <a:cs typeface="Times New Roman"/>
            </a:endParaRPr>
          </a:p>
          <a:p>
            <a:pPr marL="1456030" algn="ctr">
              <a:lnSpc>
                <a:spcPct val="100000"/>
              </a:lnSpc>
              <a:spcBef>
                <a:spcPts val="5"/>
              </a:spcBef>
            </a:pPr>
            <a:r>
              <a:rPr lang="en-IN" sz="3200" b="1" spc="-10">
                <a:solidFill>
                  <a:srgbClr val="2D5395"/>
                </a:solidFill>
                <a:latin typeface="Times New Roman"/>
                <a:cs typeface="Times New Roman"/>
              </a:rPr>
              <a:t>WORK DONE</a:t>
            </a:r>
            <a:endParaRPr sz="3200" dirty="0">
              <a:latin typeface="Times New Roman"/>
              <a:cs typeface="Times New Roman"/>
            </a:endParaRPr>
          </a:p>
          <a:p>
            <a:pPr marL="228600" indent="-228600" algn="just">
              <a:lnSpc>
                <a:spcPct val="125000"/>
              </a:lnSpc>
              <a:buFont typeface="Arial"/>
              <a:buChar char="•"/>
            </a:pPr>
            <a:r>
              <a:rPr sz="1800">
                <a:latin typeface="Times New Roman"/>
              </a:rPr>
              <a:t>Deployed 3-model AttentionLSTM ensemble (e12+e13+c53, 12 features x 90-min window) for in-hospital mortality risk prediction.</a:t>
            </a:r>
          </a:p>
          <a:p>
            <a:pPr marL="228600" indent="-228600" algn="just">
              <a:lnSpc>
                <a:spcPct val="125000"/>
              </a:lnSpc>
              <a:buFont typeface="Arial"/>
              <a:buChar char="•"/>
            </a:pPr>
            <a:r>
              <a:rPr sz="1800">
                <a:latin typeface="Times New Roman"/>
              </a:rPr>
              <a:t>Validation AUC 0.840; fresh unseen 20% set-B holdout AUC 0.834 (95% CI 0.825-0.843); one-time locked slices 0.828 / 0.818.</a:t>
            </a:r>
          </a:p>
          <a:p>
            <a:pPr marL="228600" indent="-228600" algn="just">
              <a:lnSpc>
                <a:spcPct val="125000"/>
              </a:lnSpc>
              <a:buFont typeface="Arial"/>
              <a:buChar char="•"/>
            </a:pPr>
            <a:r>
              <a:rPr sz="1800">
                <a:latin typeface="Times New Roman"/>
              </a:rPr>
              <a:t>Operating point 0.70 gives precision approx. 0.50 at recall approx. 0.48 (holdout sensitivity 80.3%, specificity 75.2%).</a:t>
            </a:r>
          </a:p>
          <a:p>
            <a:pPr marL="228600" indent="-228600" algn="just">
              <a:lnSpc>
                <a:spcPct val="125000"/>
              </a:lnSpc>
              <a:buFont typeface="Arial"/>
              <a:buChar char="•"/>
            </a:pPr>
            <a:r>
              <a:rPr sz="1800">
                <a:latin typeface="Times New Roman"/>
              </a:rPr>
              <a:t>FastAPI backend live: /ingest real-time scoring, /patients ranking, /patient/{id}/explain with SHAP and temporal attention.</a:t>
            </a:r>
          </a:p>
          <a:p>
            <a:pPr marL="228600" indent="-228600" algn="just">
              <a:lnSpc>
                <a:spcPct val="125000"/>
              </a:lnSpc>
              <a:buFont typeface="Arial"/>
              <a:buChar char="•"/>
            </a:pPr>
            <a:r>
              <a:rPr sz="1800">
                <a:latin typeface="Times New Roman"/>
              </a:rPr>
              <a:t>React dashboard live: ranked risk board, 5 scenario simulations, threshold tuner with NEWS2 comparison, alert stream.</a:t>
            </a:r>
          </a:p>
          <a:p>
            <a:pPr marL="228600" indent="-228600" algn="just">
              <a:lnSpc>
                <a:spcPct val="125000"/>
              </a:lnSpc>
              <a:buFont typeface="Arial"/>
              <a:buChar char="•"/>
            </a:pPr>
            <a:r>
              <a:rPr sz="1800">
                <a:latin typeface="Times New Roman"/>
              </a:rPr>
              <a:t>Explainability verified: SpO2, respiratory rate and systolic BP rank as top drivers; causal interpolation with no future leakage.</a:t>
            </a:r>
          </a:p>
        </p:txBody>
      </p:sp>
      <p:pic>
        <p:nvPicPr>
          <p:cNvPr id="3" name="object 3">
            <a:extLst>
              <a:ext uri="{FF2B5EF4-FFF2-40B4-BE49-F238E27FC236}">
                <a16:creationId xmlns:a16="http://schemas.microsoft.com/office/drawing/2014/main" id="{DDFDF824-E940-0A8E-1565-DC52A87033B8}"/>
              </a:ext>
            </a:extLst>
          </p:cNvPr>
          <p:cNvPicPr/>
          <p:nvPr/>
        </p:nvPicPr>
        <p:blipFill>
          <a:blip r:embed="rId2" cstate="print"/>
          <a:stretch>
            <a:fillRect/>
          </a:stretch>
        </p:blipFill>
        <p:spPr>
          <a:xfrm>
            <a:off x="10866119" y="0"/>
            <a:ext cx="1325879" cy="1411224"/>
          </a:xfrm>
          <a:prstGeom prst="rect">
            <a:avLst/>
          </a:prstGeom>
        </p:spPr>
      </p:pic>
      <p:sp>
        <p:nvSpPr>
          <p:cNvPr id="4" name="object 4">
            <a:extLst>
              <a:ext uri="{FF2B5EF4-FFF2-40B4-BE49-F238E27FC236}">
                <a16:creationId xmlns:a16="http://schemas.microsoft.com/office/drawing/2014/main" id="{6C0FF1B3-7DDB-CDF1-FD73-F122D3A481DA}"/>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20" dirty="0"/>
              <a:t>DEPT.</a:t>
            </a:r>
            <a:r>
              <a:rPr spc="-35" dirty="0"/>
              <a:t> </a:t>
            </a:r>
            <a:r>
              <a:rPr dirty="0"/>
              <a:t>OF</a:t>
            </a:r>
            <a:r>
              <a:rPr spc="-45" dirty="0"/>
              <a:t> </a:t>
            </a:r>
            <a:r>
              <a:rPr spc="-25" dirty="0"/>
              <a:t>CSE</a:t>
            </a:r>
          </a:p>
        </p:txBody>
      </p:sp>
      <p:sp>
        <p:nvSpPr>
          <p:cNvPr id="5" name="object 5">
            <a:extLst>
              <a:ext uri="{FF2B5EF4-FFF2-40B4-BE49-F238E27FC236}">
                <a16:creationId xmlns:a16="http://schemas.microsoft.com/office/drawing/2014/main" id="{0A7398D9-AB48-3357-73BC-1119C559109B}"/>
              </a:ext>
            </a:extLst>
          </p:cNvPr>
          <p:cNvSpPr txBox="1">
            <a:spLocks noGrp="1"/>
          </p:cNvSpPr>
          <p:nvPr>
            <p:ph type="dt" sz="half" idx="6"/>
          </p:nvPr>
        </p:nvSpPr>
        <p:spPr>
          <a:xfrm>
            <a:off x="5830570" y="6390368"/>
            <a:ext cx="522604" cy="179536"/>
          </a:xfrm>
          <a:prstGeom prst="rect">
            <a:avLst/>
          </a:prstGeom>
        </p:spPr>
        <p:txBody>
          <a:bodyPr vert="horz" wrap="square" lIns="0" tIns="0" rIns="0" bIns="0" rtlCol="0">
            <a:spAutoFit/>
          </a:bodyPr>
          <a:lstStyle/>
          <a:p>
            <a:pPr marL="12700">
              <a:lnSpc>
                <a:spcPts val="1410"/>
              </a:lnSpc>
            </a:pPr>
            <a:r>
              <a:rPr spc="-25" dirty="0"/>
              <a:t>202</a:t>
            </a:r>
            <a:r>
              <a:rPr lang="en-IN" spc="-25" dirty="0"/>
              <a:t>6</a:t>
            </a:r>
            <a:r>
              <a:rPr spc="-25" dirty="0"/>
              <a:t>-2</a:t>
            </a:r>
            <a:r>
              <a:rPr lang="en-IN" spc="-25" dirty="0"/>
              <a:t>7</a:t>
            </a:r>
            <a:endParaRPr spc="-25" dirty="0"/>
          </a:p>
        </p:txBody>
      </p:sp>
      <p:sp>
        <p:nvSpPr>
          <p:cNvPr id="6" name="object 6">
            <a:extLst>
              <a:ext uri="{FF2B5EF4-FFF2-40B4-BE49-F238E27FC236}">
                <a16:creationId xmlns:a16="http://schemas.microsoft.com/office/drawing/2014/main" id="{C959072B-2CA8-E713-4EEB-2A4619E9518A}"/>
              </a:ext>
            </a:extLst>
          </p:cNvPr>
          <p:cNvSpPr txBox="1"/>
          <p:nvPr/>
        </p:nvSpPr>
        <p:spPr>
          <a:xfrm>
            <a:off x="11176507" y="6389149"/>
            <a:ext cx="101600" cy="194310"/>
          </a:xfrm>
          <a:prstGeom prst="rect">
            <a:avLst/>
          </a:prstGeom>
        </p:spPr>
        <p:txBody>
          <a:bodyPr vert="horz" wrap="square" lIns="0" tIns="0" rIns="0" bIns="0" rtlCol="0">
            <a:spAutoFit/>
          </a:bodyPr>
          <a:lstStyle/>
          <a:p>
            <a:pPr marL="12700">
              <a:lnSpc>
                <a:spcPts val="1410"/>
              </a:lnSpc>
            </a:pPr>
            <a:r>
              <a:rPr sz="1200" spc="-50" dirty="0">
                <a:latin typeface="Times New Roman"/>
                <a:cs typeface="Times New Roman"/>
              </a:rPr>
              <a:t>6</a:t>
            </a:r>
            <a:endParaRPr sz="1200">
              <a:latin typeface="Times New Roman"/>
              <a:cs typeface="Times New Roman"/>
            </a:endParaRPr>
          </a:p>
        </p:txBody>
      </p:sp>
    </p:spTree>
    <p:extLst>
      <p:ext uri="{BB962C8B-B14F-4D97-AF65-F5344CB8AC3E}">
        <p14:creationId xmlns:p14="http://schemas.microsoft.com/office/powerpoint/2010/main" val="31462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0374D-626A-5B66-692A-BF297A963D7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B30F311-A52E-D32E-79CF-E68F204EEFA0}"/>
              </a:ext>
            </a:extLst>
          </p:cNvPr>
          <p:cNvSpPr txBox="1"/>
          <p:nvPr/>
        </p:nvSpPr>
        <p:spPr>
          <a:xfrm>
            <a:off x="916635" y="325881"/>
            <a:ext cx="9949484" cy="5116144"/>
          </a:xfrm>
          <a:prstGeom prst="rect">
            <a:avLst/>
          </a:prstGeom>
        </p:spPr>
        <p:txBody>
          <a:bodyPr vert="horz" wrap="square" lIns="0" tIns="12065" rIns="0" bIns="0" rtlCol="0">
            <a:spAutoFit/>
          </a:bodyPr>
          <a:lstStyle/>
          <a:p>
            <a:pPr marL="2451735">
              <a:lnSpc>
                <a:spcPct val="100000"/>
              </a:lnSpc>
              <a:spcBef>
                <a:spcPts val="95"/>
              </a:spcBef>
            </a:pPr>
            <a:r>
              <a:rPr sz="2800" b="1" dirty="0">
                <a:latin typeface="Times New Roman"/>
                <a:cs typeface="Times New Roman"/>
              </a:rPr>
              <a:t>P.A.</a:t>
            </a:r>
            <a:r>
              <a:rPr sz="2800" b="1" spc="-55" dirty="0">
                <a:latin typeface="Times New Roman"/>
                <a:cs typeface="Times New Roman"/>
              </a:rPr>
              <a:t> </a:t>
            </a:r>
            <a:r>
              <a:rPr sz="2800" b="1" dirty="0">
                <a:latin typeface="Times New Roman"/>
                <a:cs typeface="Times New Roman"/>
              </a:rPr>
              <a:t>COLLEGE</a:t>
            </a:r>
            <a:r>
              <a:rPr sz="2800" b="1" spc="-40" dirty="0">
                <a:latin typeface="Times New Roman"/>
                <a:cs typeface="Times New Roman"/>
              </a:rPr>
              <a:t> </a:t>
            </a:r>
            <a:r>
              <a:rPr sz="2800" b="1" dirty="0">
                <a:latin typeface="Times New Roman"/>
                <a:cs typeface="Times New Roman"/>
              </a:rPr>
              <a:t>OF</a:t>
            </a:r>
            <a:r>
              <a:rPr sz="2800" b="1" spc="-55" dirty="0">
                <a:latin typeface="Times New Roman"/>
                <a:cs typeface="Times New Roman"/>
              </a:rPr>
              <a:t> </a:t>
            </a:r>
            <a:r>
              <a:rPr sz="2800" b="1" spc="-10" dirty="0">
                <a:latin typeface="Times New Roman"/>
                <a:cs typeface="Times New Roman"/>
              </a:rPr>
              <a:t>ENGINEERING</a:t>
            </a:r>
            <a:endParaRPr sz="2800" dirty="0">
              <a:latin typeface="Times New Roman"/>
              <a:cs typeface="Times New Roman"/>
            </a:endParaRPr>
          </a:p>
          <a:p>
            <a:pPr marL="1743075">
              <a:lnSpc>
                <a:spcPct val="100000"/>
              </a:lnSpc>
              <a:spcBef>
                <a:spcPts val="30"/>
              </a:spcBef>
            </a:pPr>
            <a:r>
              <a:rPr sz="2000" b="1" spc="-10" dirty="0">
                <a:latin typeface="Times New Roman"/>
                <a:cs typeface="Times New Roman"/>
              </a:rPr>
              <a:t>DEPARTMENT</a:t>
            </a:r>
            <a:r>
              <a:rPr sz="2000" b="1" spc="-40" dirty="0">
                <a:latin typeface="Times New Roman"/>
                <a:cs typeface="Times New Roman"/>
              </a:rPr>
              <a:t> </a:t>
            </a:r>
            <a:r>
              <a:rPr sz="2000" b="1" dirty="0">
                <a:latin typeface="Times New Roman"/>
                <a:cs typeface="Times New Roman"/>
              </a:rPr>
              <a:t>OF</a:t>
            </a:r>
            <a:r>
              <a:rPr sz="2000" b="1" spc="-50" dirty="0">
                <a:latin typeface="Times New Roman"/>
                <a:cs typeface="Times New Roman"/>
              </a:rPr>
              <a:t> </a:t>
            </a:r>
            <a:r>
              <a:rPr sz="2000" b="1" dirty="0">
                <a:latin typeface="Times New Roman"/>
                <a:cs typeface="Times New Roman"/>
              </a:rPr>
              <a:t>COMPUTER</a:t>
            </a:r>
            <a:r>
              <a:rPr sz="2000" b="1" spc="-45" dirty="0">
                <a:latin typeface="Times New Roman"/>
                <a:cs typeface="Times New Roman"/>
              </a:rPr>
              <a:t> </a:t>
            </a:r>
            <a:r>
              <a:rPr sz="2000" b="1" dirty="0">
                <a:latin typeface="Times New Roman"/>
                <a:cs typeface="Times New Roman"/>
              </a:rPr>
              <a:t>SCIENCE</a:t>
            </a:r>
            <a:r>
              <a:rPr sz="2000" b="1" spc="-50" dirty="0">
                <a:latin typeface="Times New Roman"/>
                <a:cs typeface="Times New Roman"/>
              </a:rPr>
              <a:t> </a:t>
            </a:r>
            <a:r>
              <a:rPr sz="2000" b="1" dirty="0">
                <a:latin typeface="Times New Roman"/>
                <a:cs typeface="Times New Roman"/>
              </a:rPr>
              <a:t>&amp;</a:t>
            </a:r>
            <a:r>
              <a:rPr sz="2000" b="1" spc="-45" dirty="0">
                <a:latin typeface="Times New Roman"/>
                <a:cs typeface="Times New Roman"/>
              </a:rPr>
              <a:t> </a:t>
            </a:r>
            <a:r>
              <a:rPr sz="2000" b="1" spc="-10" dirty="0">
                <a:latin typeface="Times New Roman"/>
                <a:cs typeface="Times New Roman"/>
              </a:rPr>
              <a:t>ENGINEERING</a:t>
            </a:r>
            <a:endParaRPr sz="2000" dirty="0">
              <a:latin typeface="Times New Roman"/>
              <a:cs typeface="Times New Roman"/>
            </a:endParaRPr>
          </a:p>
          <a:p>
            <a:pPr marL="3799840">
              <a:lnSpc>
                <a:spcPct val="100000"/>
              </a:lnSpc>
              <a:spcBef>
                <a:spcPts val="5"/>
              </a:spcBef>
            </a:pPr>
            <a:endParaRPr lang="en-IN" sz="2000" dirty="0">
              <a:latin typeface="Times New Roman"/>
              <a:cs typeface="Times New Roman"/>
            </a:endParaRPr>
          </a:p>
          <a:p>
            <a:pPr marL="3799840">
              <a:lnSpc>
                <a:spcPct val="100000"/>
              </a:lnSpc>
              <a:spcBef>
                <a:spcPts val="5"/>
              </a:spcBef>
            </a:pPr>
            <a:r>
              <a:rPr lang="en-IN" sz="3200" b="1" spc="-10" dirty="0">
                <a:solidFill>
                  <a:srgbClr val="2D5395"/>
                </a:solidFill>
                <a:latin typeface="Times New Roman"/>
                <a:cs typeface="Times New Roman"/>
              </a:rPr>
              <a:t>FUTURE ROADMAP</a:t>
            </a:r>
            <a:endParaRPr sz="3200" dirty="0">
              <a:latin typeface="Times New Roman"/>
              <a:cs typeface="Times New Roman"/>
            </a:endParaRPr>
          </a:p>
          <a:p>
            <a:pPr marL="228600" indent="-228600" algn="just">
              <a:lnSpc>
                <a:spcPct val="150000"/>
              </a:lnSpc>
              <a:buFont typeface="Arial"/>
              <a:buChar char="•"/>
            </a:pPr>
            <a:r>
              <a:rPr sz="1800">
                <a:latin typeface="Times New Roman"/>
              </a:rPr>
              <a:t>Prospective validation, calibration reporting and clinician review before any clinical use (research prototype only).</a:t>
            </a:r>
          </a:p>
          <a:p>
            <a:pPr marL="228600" indent="-228600" algn="just">
              <a:lnSpc>
                <a:spcPct val="150000"/>
              </a:lnSpc>
              <a:buFont typeface="Arial"/>
              <a:buChar char="•"/>
            </a:pPr>
            <a:r>
              <a:rPr sz="1800">
                <a:latin typeface="Times New Roman"/>
              </a:rPr>
              <a:t>Migrate training to MIMIC-IV / eICU for larger modern cohort with fairness and subgroup analysis.</a:t>
            </a:r>
          </a:p>
          <a:p>
            <a:pPr marL="228600" indent="-228600" algn="just">
              <a:lnSpc>
                <a:spcPct val="150000"/>
              </a:lnSpc>
              <a:buFont typeface="Arial"/>
              <a:buChar char="•"/>
            </a:pPr>
            <a:r>
              <a:rPr sz="1800">
                <a:latin typeface="Times New Roman"/>
              </a:rPr>
              <a:t>Upgrade to Temporal Fusion Transformer for longer histories and improved temporal modeling.</a:t>
            </a:r>
          </a:p>
          <a:p>
            <a:pPr marL="228600" indent="-228600" algn="just">
              <a:lnSpc>
                <a:spcPct val="150000"/>
              </a:lnSpc>
              <a:buFont typeface="Arial"/>
              <a:buChar char="•"/>
            </a:pPr>
            <a:r>
              <a:rPr sz="1800">
                <a:latin typeface="Times New Roman"/>
              </a:rPr>
              <a:t>Multimodal fusion: integrate clinical notes with BioBERT alongside vitals and labs.</a:t>
            </a:r>
          </a:p>
          <a:p>
            <a:pPr marL="228600" indent="-228600" algn="just">
              <a:lnSpc>
                <a:spcPct val="150000"/>
              </a:lnSpc>
              <a:buFont typeface="Arial"/>
              <a:buChar char="•"/>
            </a:pPr>
            <a:r>
              <a:rPr sz="1800">
                <a:latin typeface="Times New Roman"/>
              </a:rPr>
              <a:t>Federated learning across hospitals with TinyML edge deployment for privacy-preserving monitoring.</a:t>
            </a:r>
          </a:p>
          <a:p>
            <a:pPr marL="228600" indent="-228600" algn="just">
              <a:lnSpc>
                <a:spcPct val="150000"/>
              </a:lnSpc>
              <a:buFont typeface="Arial"/>
              <a:buChar char="•"/>
            </a:pPr>
            <a:r>
              <a:rPr sz="1800">
                <a:latin typeface="Times New Roman"/>
              </a:rPr>
              <a:t>Mistake-driven retraining loop: queue confirmed misses and false alarms into weighted retraining with fresh-holdout gating.</a:t>
            </a:r>
          </a:p>
        </p:txBody>
      </p:sp>
      <p:pic>
        <p:nvPicPr>
          <p:cNvPr id="3" name="object 3">
            <a:extLst>
              <a:ext uri="{FF2B5EF4-FFF2-40B4-BE49-F238E27FC236}">
                <a16:creationId xmlns:a16="http://schemas.microsoft.com/office/drawing/2014/main" id="{060ED64C-D3F8-AA81-272D-F0E04FE64AF0}"/>
              </a:ext>
            </a:extLst>
          </p:cNvPr>
          <p:cNvPicPr/>
          <p:nvPr/>
        </p:nvPicPr>
        <p:blipFill>
          <a:blip r:embed="rId2" cstate="print"/>
          <a:stretch>
            <a:fillRect/>
          </a:stretch>
        </p:blipFill>
        <p:spPr>
          <a:xfrm>
            <a:off x="10866119" y="0"/>
            <a:ext cx="1325879" cy="1411224"/>
          </a:xfrm>
          <a:prstGeom prst="rect">
            <a:avLst/>
          </a:prstGeom>
        </p:spPr>
      </p:pic>
      <p:sp>
        <p:nvSpPr>
          <p:cNvPr id="4" name="object 4">
            <a:extLst>
              <a:ext uri="{FF2B5EF4-FFF2-40B4-BE49-F238E27FC236}">
                <a16:creationId xmlns:a16="http://schemas.microsoft.com/office/drawing/2014/main" id="{778550C6-287A-E13A-208E-3F92D29657B3}"/>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20" dirty="0"/>
              <a:t>DEPT.</a:t>
            </a:r>
            <a:r>
              <a:rPr spc="-35" dirty="0"/>
              <a:t> </a:t>
            </a:r>
            <a:r>
              <a:rPr dirty="0"/>
              <a:t>OF</a:t>
            </a:r>
            <a:r>
              <a:rPr spc="-45" dirty="0"/>
              <a:t> </a:t>
            </a:r>
            <a:r>
              <a:rPr spc="-25" dirty="0"/>
              <a:t>CSE</a:t>
            </a:r>
          </a:p>
        </p:txBody>
      </p:sp>
      <p:sp>
        <p:nvSpPr>
          <p:cNvPr id="5" name="object 5">
            <a:extLst>
              <a:ext uri="{FF2B5EF4-FFF2-40B4-BE49-F238E27FC236}">
                <a16:creationId xmlns:a16="http://schemas.microsoft.com/office/drawing/2014/main" id="{EE294C56-3A10-36DB-4A53-7D4FD6316B28}"/>
              </a:ext>
            </a:extLst>
          </p:cNvPr>
          <p:cNvSpPr txBox="1">
            <a:spLocks noGrp="1"/>
          </p:cNvSpPr>
          <p:nvPr>
            <p:ph type="dt" sz="half" idx="6"/>
          </p:nvPr>
        </p:nvSpPr>
        <p:spPr>
          <a:xfrm>
            <a:off x="5830570" y="6390368"/>
            <a:ext cx="522604" cy="179536"/>
          </a:xfrm>
          <a:prstGeom prst="rect">
            <a:avLst/>
          </a:prstGeom>
        </p:spPr>
        <p:txBody>
          <a:bodyPr vert="horz" wrap="square" lIns="0" tIns="0" rIns="0" bIns="0" rtlCol="0">
            <a:spAutoFit/>
          </a:bodyPr>
          <a:lstStyle/>
          <a:p>
            <a:pPr marL="12700">
              <a:lnSpc>
                <a:spcPts val="1410"/>
              </a:lnSpc>
            </a:pPr>
            <a:r>
              <a:rPr spc="-25" dirty="0"/>
              <a:t>202</a:t>
            </a:r>
            <a:r>
              <a:rPr lang="en-IN" spc="-25" dirty="0"/>
              <a:t>6</a:t>
            </a:r>
            <a:r>
              <a:rPr spc="-25" dirty="0"/>
              <a:t>-2</a:t>
            </a:r>
            <a:r>
              <a:rPr lang="en-IN" spc="-25" dirty="0"/>
              <a:t>7</a:t>
            </a:r>
            <a:endParaRPr spc="-25" dirty="0"/>
          </a:p>
        </p:txBody>
      </p:sp>
      <p:sp>
        <p:nvSpPr>
          <p:cNvPr id="6" name="object 6">
            <a:extLst>
              <a:ext uri="{FF2B5EF4-FFF2-40B4-BE49-F238E27FC236}">
                <a16:creationId xmlns:a16="http://schemas.microsoft.com/office/drawing/2014/main" id="{79E02AC7-BEA9-BBF9-A1FF-59A5478CB3CE}"/>
              </a:ext>
            </a:extLst>
          </p:cNvPr>
          <p:cNvSpPr txBox="1"/>
          <p:nvPr/>
        </p:nvSpPr>
        <p:spPr>
          <a:xfrm>
            <a:off x="11176507" y="6389149"/>
            <a:ext cx="101600" cy="194310"/>
          </a:xfrm>
          <a:prstGeom prst="rect">
            <a:avLst/>
          </a:prstGeom>
        </p:spPr>
        <p:txBody>
          <a:bodyPr vert="horz" wrap="square" lIns="0" tIns="0" rIns="0" bIns="0" rtlCol="0">
            <a:spAutoFit/>
          </a:bodyPr>
          <a:lstStyle/>
          <a:p>
            <a:pPr marL="12700">
              <a:lnSpc>
                <a:spcPts val="1410"/>
              </a:lnSpc>
            </a:pPr>
            <a:r>
              <a:rPr sz="1200" spc="-50" dirty="0">
                <a:latin typeface="Times New Roman"/>
                <a:cs typeface="Times New Roman"/>
              </a:rPr>
              <a:t>7</a:t>
            </a:r>
            <a:endParaRPr sz="1200">
              <a:latin typeface="Times New Roman"/>
              <a:cs typeface="Times New Roman"/>
            </a:endParaRPr>
          </a:p>
        </p:txBody>
      </p:sp>
    </p:spTree>
    <p:extLst>
      <p:ext uri="{BB962C8B-B14F-4D97-AF65-F5344CB8AC3E}">
        <p14:creationId xmlns:p14="http://schemas.microsoft.com/office/powerpoint/2010/main" val="616556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16271" y="1591437"/>
            <a:ext cx="2748280" cy="513715"/>
          </a:xfrm>
          <a:prstGeom prst="rect">
            <a:avLst/>
          </a:prstGeom>
        </p:spPr>
        <p:txBody>
          <a:bodyPr vert="horz" wrap="square" lIns="0" tIns="13335" rIns="0" bIns="0" rtlCol="0">
            <a:spAutoFit/>
          </a:bodyPr>
          <a:lstStyle/>
          <a:p>
            <a:pPr marL="12700">
              <a:lnSpc>
                <a:spcPct val="100000"/>
              </a:lnSpc>
              <a:spcBef>
                <a:spcPts val="105"/>
              </a:spcBef>
            </a:pPr>
            <a:r>
              <a:rPr sz="3200" b="1" spc="-10" dirty="0">
                <a:latin typeface="Times New Roman"/>
                <a:cs typeface="Times New Roman"/>
              </a:rPr>
              <a:t>REFERENCES</a:t>
            </a:r>
            <a:endParaRPr sz="3200">
              <a:latin typeface="Times New Roman"/>
              <a:cs typeface="Times New Roman"/>
            </a:endParaRPr>
          </a:p>
        </p:txBody>
      </p:sp>
      <p:sp>
        <p:nvSpPr>
          <p:cNvPr id="3" name="object 3"/>
          <p:cNvSpPr txBox="1">
            <a:spLocks noGrp="1"/>
          </p:cNvSpPr>
          <p:nvPr>
            <p:ph type="body" idx="1"/>
          </p:nvPr>
        </p:nvSpPr>
        <p:spPr>
          <a:xfrm>
            <a:off x="916635" y="2467101"/>
            <a:ext cx="9949484" cy="3577198"/>
          </a:xfrm>
          <a:prstGeom prst="rect">
            <a:avLst/>
          </a:prstGeom>
        </p:spPr>
        <p:txBody>
          <a:bodyPr vert="horz" wrap="square" lIns="0" tIns="12065" rIns="0" bIns="0" rtlCol="0">
            <a:spAutoFit/>
          </a:bodyPr>
          <a:lstStyle/>
          <a:p>
            <a:pPr marL="228600" indent="-228600" algn="just">
              <a:lnSpc>
                <a:spcPct val="150000"/>
              </a:lnSpc>
              <a:buFont typeface="Arial"/>
              <a:buChar char="•"/>
            </a:pPr>
            <a:r>
              <a:rPr sz="1300" dirty="0">
                <a:latin typeface="Times New Roman"/>
              </a:rPr>
              <a:t>[1] Z. Zheng et al., "Development and Validation of a Dynamic Real-Time Risk Prediction Model for ICU Patients," J. Med. Internet Res., vol. 27, e69293, 2025. (Base paper)</a:t>
            </a:r>
            <a:endParaRPr sz="1300" spc="-10" dirty="0"/>
          </a:p>
          <a:p>
            <a:pPr marL="228600" indent="-228600" algn="just">
              <a:lnSpc>
                <a:spcPct val="150000"/>
              </a:lnSpc>
              <a:buFont typeface="Arial"/>
              <a:buChar char="•"/>
            </a:pPr>
            <a:r>
              <a:rPr sz="1300" dirty="0">
                <a:latin typeface="Times New Roman"/>
              </a:rPr>
              <a:t>[2] T. I. </a:t>
            </a:r>
            <a:r>
              <a:rPr sz="1300" dirty="0" err="1">
                <a:latin typeface="Times New Roman"/>
              </a:rPr>
              <a:t>Alshwaheen</a:t>
            </a:r>
            <a:r>
              <a:rPr sz="1300" dirty="0">
                <a:latin typeface="Times New Roman"/>
              </a:rPr>
              <a:t> et al., "Novel Framework of Patient Deterioration Prediction in ICU Based on LSTM-RNN," IEEE Access, vol. 9, 2021.</a:t>
            </a:r>
          </a:p>
          <a:p>
            <a:pPr marL="228600" indent="-228600" algn="just">
              <a:lnSpc>
                <a:spcPct val="150000"/>
              </a:lnSpc>
              <a:buFont typeface="Arial"/>
              <a:buChar char="•"/>
            </a:pPr>
            <a:r>
              <a:rPr sz="1300" dirty="0">
                <a:latin typeface="Times New Roman"/>
              </a:rPr>
              <a:t>[3] E. Choi et al., "Deep Interpretable Early Warning System for Detection of Clinical Deterioration," IEEE J. Biomed. Health </a:t>
            </a:r>
            <a:r>
              <a:rPr sz="1300" dirty="0" err="1">
                <a:latin typeface="Times New Roman"/>
              </a:rPr>
              <a:t>Informat</a:t>
            </a:r>
            <a:r>
              <a:rPr sz="1300" dirty="0">
                <a:latin typeface="Times New Roman"/>
              </a:rPr>
              <a:t>., vol. 24, no. 9, 2020.</a:t>
            </a:r>
          </a:p>
          <a:p>
            <a:pPr marL="228600" indent="-228600" algn="just">
              <a:lnSpc>
                <a:spcPct val="150000"/>
              </a:lnSpc>
              <a:buFont typeface="Arial"/>
              <a:buChar char="•"/>
            </a:pPr>
            <a:r>
              <a:rPr sz="1300" dirty="0">
                <a:latin typeface="Times New Roman"/>
              </a:rPr>
              <a:t>[4] Y. Li et al., "Attention Residual LSTM-FCN for Inpatient Mortality Prediction," IEEE Access, vol. 13, 2025.</a:t>
            </a:r>
          </a:p>
          <a:p>
            <a:pPr marL="228600" indent="-228600" algn="just">
              <a:lnSpc>
                <a:spcPct val="150000"/>
              </a:lnSpc>
              <a:buFont typeface="Arial"/>
              <a:buChar char="•"/>
            </a:pPr>
            <a:r>
              <a:rPr sz="1300" dirty="0">
                <a:latin typeface="Times New Roman"/>
              </a:rPr>
              <a:t>[5] PULSE-ICU: Pretrained Unified Long-Sequence Encoder for Multi-task ICU Prediction, arXiv:2511.22199, 2025.</a:t>
            </a:r>
          </a:p>
          <a:p>
            <a:pPr marL="228600" indent="-228600" algn="just">
              <a:lnSpc>
                <a:spcPct val="150000"/>
              </a:lnSpc>
              <a:buFont typeface="Arial"/>
              <a:buChar char="•"/>
            </a:pPr>
            <a:r>
              <a:rPr sz="1300" dirty="0">
                <a:latin typeface="Times New Roman"/>
              </a:rPr>
              <a:t>[6] GARLIC: Graph Attention-based Relational Learning of Multivariate Time Series in ICU, arXiv:2608.10969, 2026.</a:t>
            </a:r>
          </a:p>
          <a:p>
            <a:pPr marL="228600" indent="-228600" algn="just">
              <a:lnSpc>
                <a:spcPct val="150000"/>
              </a:lnSpc>
              <a:buFont typeface="Arial"/>
              <a:buChar char="•"/>
            </a:pPr>
            <a:r>
              <a:rPr sz="1300" dirty="0">
                <a:latin typeface="Times New Roman"/>
              </a:rPr>
              <a:t>[7] Z. Yan et al., "Deep learning-based in-hospital mortality prediction using long-term sequential ICU data," </a:t>
            </a:r>
            <a:r>
              <a:rPr sz="1300" dirty="0" err="1">
                <a:latin typeface="Times New Roman"/>
              </a:rPr>
              <a:t>PeerJ</a:t>
            </a:r>
            <a:r>
              <a:rPr sz="1300" dirty="0">
                <a:latin typeface="Times New Roman"/>
              </a:rPr>
              <a:t>, vol. 14, e21631, 2026.</a:t>
            </a:r>
          </a:p>
          <a:p>
            <a:pPr marL="228600" indent="-228600" algn="just">
              <a:lnSpc>
                <a:spcPct val="150000"/>
              </a:lnSpc>
              <a:buFont typeface="Arial"/>
              <a:buChar char="•"/>
            </a:pPr>
            <a:r>
              <a:rPr sz="1300" dirty="0">
                <a:latin typeface="Times New Roman"/>
              </a:rPr>
              <a:t>[8] M. R. Scheid et al., "Clinical wearable deep learning based continuous deterioration prediction," Nature Commun., vol. 16, 9513, 2025.</a:t>
            </a:r>
          </a:p>
          <a:p>
            <a:pPr marL="228600" indent="-228600" algn="just">
              <a:lnSpc>
                <a:spcPct val="150000"/>
              </a:lnSpc>
              <a:buFont typeface="Arial"/>
              <a:buChar char="•"/>
            </a:pPr>
            <a:r>
              <a:rPr sz="1300" dirty="0">
                <a:latin typeface="Times New Roman"/>
              </a:rPr>
              <a:t>[9] PhysioNet/Computing in Cardiology Challenge 2012: Predicting Mortality of ICU Patients (4,000 stays, 37 variables).</a:t>
            </a:r>
          </a:p>
          <a:p>
            <a:pPr marL="228600" indent="-228600" algn="just">
              <a:lnSpc>
                <a:spcPct val="150000"/>
              </a:lnSpc>
              <a:buFont typeface="Arial"/>
              <a:buChar char="•"/>
            </a:pPr>
            <a:r>
              <a:rPr sz="1300" dirty="0">
                <a:latin typeface="Times New Roman"/>
              </a:rPr>
              <a:t>[10] L. Wang et al., "Expert Augmented Prediction of Circulatory and Respiratory Instability," </a:t>
            </a:r>
            <a:r>
              <a:rPr sz="1300" dirty="0" err="1">
                <a:latin typeface="Times New Roman"/>
              </a:rPr>
              <a:t>npj</a:t>
            </a:r>
            <a:r>
              <a:rPr sz="1300" dirty="0">
                <a:latin typeface="Times New Roman"/>
              </a:rPr>
              <a:t> Digit. Med., 2026</a:t>
            </a:r>
            <a:r>
              <a:rPr sz="1200" dirty="0">
                <a:latin typeface="Times New Roman"/>
              </a:rPr>
              <a:t>.</a:t>
            </a:r>
          </a:p>
        </p:txBody>
      </p:sp>
      <p:pic>
        <p:nvPicPr>
          <p:cNvPr id="4" name="object 4"/>
          <p:cNvPicPr/>
          <p:nvPr/>
        </p:nvPicPr>
        <p:blipFill>
          <a:blip r:embed="rId2" cstate="print"/>
          <a:stretch>
            <a:fillRect/>
          </a:stretch>
        </p:blipFill>
        <p:spPr>
          <a:xfrm>
            <a:off x="0" y="0"/>
            <a:ext cx="1368552" cy="1411224"/>
          </a:xfrm>
          <a:prstGeom prst="rect">
            <a:avLst/>
          </a:prstGeom>
        </p:spPr>
      </p:pic>
      <p:pic>
        <p:nvPicPr>
          <p:cNvPr id="5" name="object 5"/>
          <p:cNvPicPr/>
          <p:nvPr/>
        </p:nvPicPr>
        <p:blipFill>
          <a:blip r:embed="rId3" cstate="print"/>
          <a:stretch>
            <a:fillRect/>
          </a:stretch>
        </p:blipFill>
        <p:spPr>
          <a:xfrm>
            <a:off x="10866119" y="0"/>
            <a:ext cx="1325879" cy="1411224"/>
          </a:xfrm>
          <a:prstGeom prst="rect">
            <a:avLst/>
          </a:prstGeom>
        </p:spPr>
      </p:pic>
      <p:pic>
        <p:nvPicPr>
          <p:cNvPr id="6" name="object 6"/>
          <p:cNvPicPr/>
          <p:nvPr/>
        </p:nvPicPr>
        <p:blipFill>
          <a:blip r:embed="rId4" cstate="print"/>
          <a:stretch>
            <a:fillRect/>
          </a:stretch>
        </p:blipFill>
        <p:spPr>
          <a:xfrm>
            <a:off x="1912620" y="408431"/>
            <a:ext cx="8392668" cy="595884"/>
          </a:xfrm>
          <a:prstGeom prst="rect">
            <a:avLst/>
          </a:prstGeom>
        </p:spPr>
      </p:pic>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20" dirty="0"/>
              <a:t>DEPT.</a:t>
            </a:r>
            <a:r>
              <a:rPr spc="-35" dirty="0"/>
              <a:t> </a:t>
            </a:r>
            <a:r>
              <a:rPr dirty="0"/>
              <a:t>OF</a:t>
            </a:r>
            <a:r>
              <a:rPr spc="-45" dirty="0"/>
              <a:t> </a:t>
            </a:r>
            <a:r>
              <a:rPr spc="-25" dirty="0"/>
              <a:t>CSE</a:t>
            </a:r>
          </a:p>
        </p:txBody>
      </p:sp>
      <p:sp>
        <p:nvSpPr>
          <p:cNvPr id="8" name="object 8"/>
          <p:cNvSpPr txBox="1"/>
          <p:nvPr/>
        </p:nvSpPr>
        <p:spPr>
          <a:xfrm>
            <a:off x="2257551" y="6396535"/>
            <a:ext cx="5207000" cy="179536"/>
          </a:xfrm>
          <a:prstGeom prst="rect">
            <a:avLst/>
          </a:prstGeom>
        </p:spPr>
        <p:txBody>
          <a:bodyPr vert="horz" wrap="square" lIns="0" tIns="0" rIns="0" bIns="0" rtlCol="0">
            <a:spAutoFit/>
          </a:bodyPr>
          <a:lstStyle/>
          <a:p>
            <a:pPr marL="12700" algn="r">
              <a:lnSpc>
                <a:spcPts val="1410"/>
              </a:lnSpc>
            </a:pPr>
            <a:r>
              <a:rPr sz="1200" spc="-25" dirty="0">
                <a:latin typeface="Times New Roman"/>
                <a:cs typeface="Times New Roman"/>
              </a:rPr>
              <a:t>202</a:t>
            </a:r>
            <a:r>
              <a:rPr lang="en-IN" sz="1200" spc="-25" dirty="0">
                <a:latin typeface="Times New Roman"/>
                <a:cs typeface="Times New Roman"/>
              </a:rPr>
              <a:t>6-27</a:t>
            </a:r>
            <a:endParaRPr sz="1200" dirty="0">
              <a:latin typeface="Times New Roman"/>
              <a:cs typeface="Times New Roman"/>
            </a:endParaRPr>
          </a:p>
        </p:txBody>
      </p:sp>
      <p:sp>
        <p:nvSpPr>
          <p:cNvPr id="9" name="object 9">
            <a:extLst>
              <a:ext uri="{FF2B5EF4-FFF2-40B4-BE49-F238E27FC236}">
                <a16:creationId xmlns:a16="http://schemas.microsoft.com/office/drawing/2014/main" id="{79E02AC7-BEA9-BBF9-A1FF-59A5478CB3CE}"/>
              </a:ext>
            </a:extLst>
          </p:cNvPr>
          <p:cNvSpPr txBox="1"/>
          <p:nvPr/>
        </p:nvSpPr>
        <p:spPr>
          <a:xfrm>
            <a:off x="11176507" y="6389149"/>
            <a:ext cx="101600" cy="194310"/>
          </a:xfrm>
          <a:prstGeom prst="rect">
            <a:avLst/>
          </a:prstGeom>
        </p:spPr>
        <p:txBody>
          <a:bodyPr vert="horz" wrap="square" lIns="0" tIns="0" rIns="0" bIns="0" rtlCol="0">
            <a:spAutoFit/>
          </a:bodyPr>
          <a:lstStyle/>
          <a:p>
            <a:pPr marL="12700">
              <a:lnSpc>
                <a:spcPts val="1410"/>
              </a:lnSpc>
            </a:pPr>
            <a:r>
              <a:rPr sz="1200" spc="-50" dirty="0">
                <a:latin typeface="Times New Roman"/>
                <a:cs typeface="Times New Roman"/>
              </a:rPr>
              <a:t>8</a:t>
            </a:r>
            <a:endParaRPr sz="12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THANK</a:t>
            </a:r>
            <a:r>
              <a:rPr spc="-275" dirty="0"/>
              <a:t> </a:t>
            </a:r>
            <a:r>
              <a:rPr spc="-25" dirty="0"/>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TotalTime>
  <Words>1308</Words>
  <Application>Microsoft Office PowerPoint</Application>
  <PresentationFormat>Widescreen</PresentationFormat>
  <Paragraphs>116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P.A. COLLEGE OF ENGINEERING DEPARTMENT OF COMPUTER SCIENCE &amp;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RAIHANA HAIDER</dc:creator>
  <cp:lastModifiedBy>Rashi Abidali</cp:lastModifiedBy>
  <cp:revision>6</cp:revision>
  <dcterms:created xsi:type="dcterms:W3CDTF">2024-04-16T04:12:02Z</dcterms:created>
  <dcterms:modified xsi:type="dcterms:W3CDTF">2026-10-04T19:25:28Z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2024-03-18T00:00:00Z</vt:filetime>
  </property>
  <property fmtid="{D5CDD505-2E9C-101B-9397-08002B2CF9AE}" pid="3" name="Creator">
    <vt:lpwstr>Microsoft® PowerPoint® 2013</vt:lpwstr>
  </property>
  <property fmtid="{D5CDD505-2E9C-101B-9397-08002B2CF9AE}" pid="4" name="LastSaved">
    <vt:filetime>2024-04-16T00:00:00Z</vt:filetime>
  </property>
  <property fmtid="{D5CDD505-2E9C-101B-9397-08002B2CF9AE}" pid="5" name="Producer">
    <vt:lpwstr>Microsoft® PowerPoint® 2013</vt:lpwstr>
  </property>
</Properties>
</file>